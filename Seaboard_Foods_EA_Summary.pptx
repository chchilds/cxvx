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TCV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Networking</c:v>
                </c:pt>
                <c:pt idx="1">
                  <c:v>Security</c:v>
                </c:pt>
                <c:pt idx="2">
                  <c:v>Services</c:v>
                </c:pt>
                <c:pt idx="3">
                  <c:v>Applications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639764</c:v>
                </c:pt>
                <c:pt idx="1">
                  <c:v>1055037</c:v>
                </c:pt>
                <c:pt idx="2">
                  <c:v>1241084</c:v>
                </c:pt>
                <c:pt idx="3">
                  <c:v>69258</c:v>
                </c:pt>
              </c:numCache>
            </c:numRef>
          </c:val>
        </c:ser>
      </c:pieChart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A9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Seaboard Foods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00A98E"/>
                </a:solidFill>
              </a:defRPr>
            </a:pPr>
            <a:r>
              <a:t>Cisco Enterprise Agreement</a:t>
            </a:r>
            <a:br/>
            <a:r>
              <a:t>Price Estimate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5486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</a:defRPr>
            </a:pPr>
            <a:r>
              <a:t>Proposal ID: 9305711</a:t>
            </a:r>
          </a:p>
          <a:p>
            <a:pPr>
              <a:defRPr sz="1400">
                <a:solidFill>
                  <a:srgbClr val="CCCCCC"/>
                </a:solidFill>
              </a:defRPr>
            </a:pPr>
            <a:r>
              <a:t>Project: Seaboard CX EA</a:t>
            </a:r>
          </a:p>
          <a:p>
            <a:pPr>
              <a:defRPr sz="1400">
                <a:solidFill>
                  <a:srgbClr val="CCCCCC"/>
                </a:solidFill>
              </a:defRPr>
            </a:pPr>
            <a:r>
              <a:t>Expected Book Date: August 4, 2026</a:t>
            </a:r>
          </a:p>
          <a:p>
            <a:pPr>
              <a:defRPr sz="1400">
                <a:solidFill>
                  <a:srgbClr val="CCCCCC"/>
                </a:solidFill>
              </a:defRPr>
            </a:pPr>
            <a:r>
              <a:t>36-Month Term | Annual Billing</a:t>
            </a:r>
          </a:p>
          <a:p>
            <a:pPr>
              <a:defRPr sz="1400">
                <a:solidFill>
                  <a:srgbClr val="CCCCCC"/>
                </a:solidFill>
              </a:defRPr>
            </a:pPr>
            <a:r>
              <a:t>Report Date: July 7,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CISCO CONFIDENTIAL — Indicative pricing only. Not an approved Cisco quote.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Deal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Customer &amp; Partners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End Customer: Seaboard Corporation US (Smart Account: SEABOARD FOODS)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Address: 9000 W 67th St, Ste 200, Mission, KS 66202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Partner: CDW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Reseller Services: Sirius Computer Solutions LLC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Cisco Account Manager: Robin Randolph (robrando@cisco.com)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Agreement Details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Enterprise Agreement Motion: EA 3.0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Buying Program ID: EA83160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Deal ID: 84632415  |  Quote ID: 4795356749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Price List: Global Price List US Availability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Duration: 36 months  |  Billing: Annual  |  RSD: August 4,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8F7"/>
                </a:solidFill>
              </a:defRPr>
            </a:pPr>
            <a:r>
              <a:t>3-Year Total Contract Value: $3,005,142.52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103120"/>
                <a:gridCol w="2103120"/>
                <a:gridCol w="21945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Portfolio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Software (USD)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Services (USD)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Total (USD)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Networking Infrastructure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$639,764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$639,764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Applications Infrastructure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$69,258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$69,258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$1,055,037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$1,055,037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Support &amp; Lifecycle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$1,241,084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$1,241,084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$1,764,058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$1,241,084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$3,005,143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3657600"/>
          <a:ext cx="50292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3840480"/>
            <a:ext cx="5029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007BC7"/>
                </a:solidFill>
              </a:defRPr>
            </a:pPr>
            <a:r>
              <a:t>Key Highlights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• Security is the largest portfolio at 35% of total TCV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• Meraki + Catalyst/Nexus networking modernization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• Cisco Secure Access (SSE) for 3,000 users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• ThousandEyes observability for 4,000 agents</a:t>
            </a:r>
          </a:p>
          <a:p>
            <a:pPr>
              <a:defRPr sz="1300">
                <a:solidFill>
                  <a:srgbClr val="333333"/>
                </a:solidFill>
              </a:defRPr>
            </a:pPr>
            <a:r>
              <a:t>• Comprehensive support across switching, WAN, and security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Networking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8F7"/>
                </a:solidFill>
              </a:defRPr>
            </a:pPr>
            <a:r>
              <a:t>Software TCV: $639,764  |  Services TCV: $955,879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Meraki Cloud-Managed (~$251K software)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609 × MR Essentials (wireless access points)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57 × MS300 Large, 31 × MS200 Medium, 62 × MS100 Medium switches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51 × MX Small, 5 × MX Large firewalls/security appliances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Data Center &amp; Campus (~$388K software)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Nexus 9300 XF switches (30 in install base, 30 desired)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Catalyst C9200/C9300/C9500 DNA EA licensing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Cisco DNA Wireless (350 AP licenses)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Secure Enterprise SD-WAN (Small/Medium tiers)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Top Support Services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Catalyst Switching 8x5xNBD: $473,061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Catalyst Switching 24x7x4: $163,292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Nexus Switching support: $154,000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ENTWAN/SD-WAN support: $87,784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Security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8F7"/>
                </a:solidFill>
              </a:defRPr>
            </a:pPr>
            <a:r>
              <a:t>Software TCV: $1,055,037  |  Services TCV: $285,205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029200"/>
                <a:gridCol w="137160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TCV (USD)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SSE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Cisco Secure Private Access Advantage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3,000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$408,815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Cisco Secure Internet Access 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$282,766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Zero 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Duo Essentials (MFA)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2,500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$107,350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Zero Trust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ISE 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$28,200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Firewall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Secure Firewall Threat Defense (FTD)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45 devices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$158,127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Add-ons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Secure Client Premier + FWM Cloud Mgmt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$27,419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5720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Security Content Users (SCU): 1,000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Firewall models: FPR1010T through FPR3110T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Top security services: Secure Access support ($148K), SFW support ($75K), ISE support ($47K)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Applications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8F7"/>
                </a:solidFill>
              </a:defRPr>
            </a:pPr>
            <a:r>
              <a:t>Software TCV: $69,258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ThousandEyes — Full Stack Observability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Part Number: E3A-TE-UNITS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Quantity: 4,000 Cloud and Enterprise Agents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Install Base: 2,500  →  Desired: 4,000 (net increase of 1,500 agents)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Total Contract Value: $69,258 over 36 months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Use Cases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End-to-end visibility across SaaS, cloud, and on-premises applications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Proactive monitoring of network paths and application performance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Digital experience monitoring for distributed workforce and facilities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Support &amp; Lifecycle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8F7"/>
                </a:solidFill>
              </a:defRPr>
            </a:pPr>
            <a:r>
              <a:t>Total Services TCV: $1,241,084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9436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Coverage Area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TCV (USD)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Networking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Catalyst Switching (877 NBD + 64 24x7)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$636,352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Networking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Nexus Switching (38 NBD + 16 24x7)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$154,000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Networking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ENTWAN / SD-WAN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$87,784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Networking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Wireless, SAN, Perpetual 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$32,495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Cisco Secure Access Advantage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$147,689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Secure Firewall (NBD, 24x7, SW, Perpetual)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$75,716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ISE + Duo Essentials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$31,451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Annual Cost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8F7"/>
                </a:solidFill>
              </a:defRPr>
            </a:pPr>
            <a:r>
              <a:t>Based on 36-month term with annual billing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971800"/>
                <a:gridCol w="2971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3-Year TCV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Estimated Annual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Software Subscriptions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$1,764,058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$588,019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Support &amp; Lifecycle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$1,241,084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$413,695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$3,005,143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$1,001,714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Approximate annual spend: $1,001,714/year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Billing model: Annual (invoiced yearly over 3-year term)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Programmatic discounts applied: ~10% on most EA 3.0 subscriptions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Pre-EA install base assets consumed upon EA activation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Portfolios Not in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The following EA portfolios have no line items in this proposal: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Collaboration (Webex, Calling, Contact Center)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Hybrid Cloud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Provider Connectivity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Cisco Professional Services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These can be added in future EA amendments if needed.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Next Steps &amp; Important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Important Disclaimers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This is indicative pricing only — NOT an approved Cisco quote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Pricing is subject to change until formal quote approval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Pre-EA install base licenses will be consumed at EA activation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Recommended Actions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Review portfolio quantities against current install 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Validate Meraki (609 APs) and Secure Access (3,000 user) counts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Confirm support coverage levels (8x5xNBD vs 24x7x4) meet SLA requirements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Work with CDW and Cisco AM Robin Randolph to finalize quote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EA Proposal Link: apps.cisco.com/ea/project/proposal/9305711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Cisco Confidential | Indicative Pricing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