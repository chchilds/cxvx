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TCV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Networking</c:v>
                </c:pt>
                <c:pt idx="1">
                  <c:v>Applications</c:v>
                </c:pt>
                <c:pt idx="2">
                  <c:v>Security</c:v>
                </c:pt>
                <c:pt idx="3">
                  <c:v>Services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1030043.52</c:v>
                </c:pt>
                <c:pt idx="1">
                  <c:v>437058.0</c:v>
                </c:pt>
                <c:pt idx="2">
                  <c:v>76726.68</c:v>
                </c:pt>
                <c:pt idx="3">
                  <c:v>1602761.76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solidFill/>
              </a:rPr>
              <a:t>HALLMARK CARDS, INCORPORATED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0E0E0"/>
                </a:solidFill>
              </a:defRPr>
            </a:pPr>
            <a:r>
              <a:rPr>
                <a:solidFill/>
              </a:rPr>
              <a:t>Cisco Enterprise Agreement</a:t>
            </a:r>
          </a:p>
          <a:p>
            <a:pPr>
              <a:defRPr sz="3000" b="1">
                <a:solidFill>
                  <a:srgbClr val="E0E0E0"/>
                </a:solidFill>
              </a:defRPr>
            </a:pPr>
            <a:r>
              <a:rPr>
                <a:solidFill/>
              </a:rPr>
              <a:t>Price Estimate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0E0E0"/>
                </a:solidFill>
              </a:defRPr>
            </a:pPr>
            <a:r>
              <a:rPr>
                <a:solidFill/>
              </a:rPr>
              <a:t>Proposal ID: 9325586</a:t>
            </a:r>
          </a:p>
          <a:p>
            <a:pPr>
              <a:defRPr sz="1500" b="0">
                <a:solidFill>
                  <a:srgbClr val="E0E0E0"/>
                </a:solidFill>
              </a:defRPr>
            </a:pPr>
            <a:r>
              <a:rPr>
                <a:solidFill/>
              </a:rPr>
              <a:t>Project: Hallmark CX EA</a:t>
            </a:r>
          </a:p>
          <a:p>
            <a:pPr>
              <a:defRPr sz="1500" b="0">
                <a:solidFill>
                  <a:srgbClr val="E0E0E0"/>
                </a:solidFill>
              </a:defRPr>
            </a:pPr>
            <a:r>
              <a:rPr>
                <a:solidFill/>
              </a:rPr>
              <a:t>Expected Book Date: 16-Oct-2026</a:t>
            </a:r>
          </a:p>
          <a:p>
            <a:pPr>
              <a:defRPr sz="1500" b="0">
                <a:solidFill>
                  <a:srgbClr val="E0E0E0"/>
                </a:solidFill>
              </a:defRPr>
            </a:pPr>
            <a:r>
              <a:rPr>
                <a:solidFill/>
              </a:rPr>
              <a:t>36-Month Term | Annual Billing</a:t>
            </a:r>
          </a:p>
          <a:p>
            <a:pPr>
              <a:defRPr sz="1500" b="0">
                <a:solidFill>
                  <a:srgbClr val="E0E0E0"/>
                </a:solidFill>
              </a:defRPr>
            </a:pPr>
            <a:r>
              <a:rPr>
                <a:solidFill/>
              </a:rPr>
              <a:t>Report Date: 08-Sep-2026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0E0E0"/>
                </a:solidFill>
              </a:defRPr>
            </a:pPr>
            <a:r>
              <a:rPr>
                <a:solidFill/>
              </a:rPr>
              <a:t>CISCO CONFIDENTIAL — Indicative pricing only. Not an approved Cisco quote.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solidFill/>
              </a:rPr>
              <a:t>Deal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0E0"/>
                </a:solidFill>
              </a:defRPr>
            </a:pPr>
            <a:r>
              <a:rPr>
                <a:solidFill/>
              </a:rPr>
              <a:t>Customer &amp; Partners</a:t>
            </a:r>
          </a:p>
          <a:p>
            <a:pPr>
              <a:defRPr sz="1300" b="0">
                <a:solidFill>
                  <a:srgbClr val="E0E0E0"/>
                </a:solidFill>
              </a:defRPr>
            </a:pPr>
            <a:r>
              <a:rPr>
                <a:solidFill/>
              </a:rPr>
              <a:t>End Customer: HALLMARK CARDS INC US</a:t>
            </a:r>
          </a:p>
          <a:p>
            <a:pPr>
              <a:defRPr sz="1300" b="0">
                <a:solidFill>
                  <a:srgbClr val="E0E0E0"/>
                </a:solidFill>
              </a:defRPr>
            </a:pPr>
            <a:r>
              <a:rPr>
                <a:solidFill/>
              </a:rPr>
              <a:t>Smart Account: HALLMARK CARDS, INCORPORATED</a:t>
            </a:r>
          </a:p>
          <a:p>
            <a:pPr>
              <a:defRPr sz="1300" b="0">
                <a:solidFill>
                  <a:srgbClr val="E0E0E0"/>
                </a:solidFill>
              </a:defRPr>
            </a:pPr>
            <a:r>
              <a:rPr>
                <a:solidFill/>
              </a:rPr>
              <a:t>Address: 2501 MCGEE TRAFFIC WAY, KANSAS CITY, MO, 64141, US</a:t>
            </a:r>
          </a:p>
          <a:p>
            <a:pPr>
              <a:defRPr sz="1300" b="0">
                <a:solidFill>
                  <a:srgbClr val="E0E0E0"/>
                </a:solidFill>
              </a:defRPr>
            </a:pPr>
            <a:r>
              <a:rPr>
                <a:solidFill/>
              </a:rPr>
              <a:t>Partner: WORLD WIDE TECHNOLOGY, INC</a:t>
            </a:r>
          </a:p>
          <a:p>
            <a:pPr>
              <a:defRPr sz="1300" b="0">
                <a:solidFill>
                  <a:srgbClr val="E0E0E0"/>
                </a:solidFill>
              </a:defRPr>
            </a:pPr>
            <a:r>
              <a:rPr>
                <a:solidFill/>
              </a:rPr>
              <a:t>Reseller Services: WORLD WIDE TECHNOLOGY  INC (1001363275)</a:t>
            </a:r>
          </a:p>
          <a:p>
            <a:pPr>
              <a:defRPr sz="1300" b="0">
                <a:solidFill>
                  <a:srgbClr val="E0E0E0"/>
                </a:solidFill>
              </a:defRPr>
            </a:pPr>
            <a:r>
              <a:rPr>
                <a:solidFill/>
              </a:rPr>
              <a:t>Cisco Account Manager: Robin Randolph (robrando@cisco.com)</a:t>
            </a:r>
          </a:p>
          <a:p>
            <a:pPr>
              <a:defRPr sz="1300" b="0">
                <a:solidFill>
                  <a:srgbClr val="E0E0E0"/>
                </a:solidFill>
              </a:defRPr>
            </a:pPr>
          </a:p>
          <a:p>
            <a:pPr>
              <a:defRPr sz="1300" b="0">
                <a:solidFill>
                  <a:srgbClr val="E0E0E0"/>
                </a:solidFill>
              </a:defRPr>
            </a:pPr>
            <a:r>
              <a:rPr>
                <a:solidFill/>
              </a:rPr>
              <a:t>Agreement Details</a:t>
            </a:r>
          </a:p>
          <a:p>
            <a:pPr>
              <a:defRPr sz="1300" b="0">
                <a:solidFill>
                  <a:srgbClr val="E0E0E0"/>
                </a:solidFill>
              </a:defRPr>
            </a:pPr>
            <a:r>
              <a:rPr>
                <a:solidFill/>
              </a:rPr>
              <a:t>Enterprise Agreement Motion: EA</a:t>
            </a:r>
          </a:p>
          <a:p>
            <a:pPr>
              <a:defRPr sz="1300" b="0">
                <a:solidFill>
                  <a:srgbClr val="E0E0E0"/>
                </a:solidFill>
              </a:defRPr>
            </a:pPr>
            <a:r>
              <a:rPr>
                <a:solidFill/>
              </a:rPr>
              <a:t>Buying Program ID: EA85986</a:t>
            </a:r>
          </a:p>
          <a:p>
            <a:pPr>
              <a:defRPr sz="1300" b="0">
                <a:solidFill>
                  <a:srgbClr val="E0E0E0"/>
                </a:solidFill>
              </a:defRPr>
            </a:pPr>
            <a:r>
              <a:rPr>
                <a:solidFill/>
              </a:rPr>
              <a:t>Deal ID: 85356428  |  Quote ID: —</a:t>
            </a:r>
          </a:p>
          <a:p>
            <a:pPr>
              <a:defRPr sz="1300" b="0">
                <a:solidFill>
                  <a:srgbClr val="E0E0E0"/>
                </a:solidFill>
              </a:defRPr>
            </a:pPr>
            <a:r>
              <a:rPr>
                <a:solidFill/>
              </a:rPr>
              <a:t>Price List: Global Price List US Availability</a:t>
            </a:r>
          </a:p>
          <a:p>
            <a:pPr>
              <a:defRPr sz="1300" b="0">
                <a:solidFill>
                  <a:srgbClr val="E0E0E0"/>
                </a:solidFill>
              </a:defRPr>
            </a:pPr>
            <a:r>
              <a:rPr>
                <a:solidFill/>
              </a:rPr>
              <a:t>Duration: 36 months  |  Billing: Annual  |  RSD: 16-Oct-2026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solidFill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0E0E0"/>
                </a:solidFill>
              </a:defRPr>
            </a:pPr>
            <a:r>
              <a:rPr>
                <a:solidFill/>
              </a:rPr>
              <a:t>3-Year Total Contract Value: $3,146,590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512064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Portfolio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Software (USD)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Services (USD)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Total (USD)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Networking 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$1,030,044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$1,030,044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Applications Infrastructure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$437,058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—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$437,058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$76,727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$76,727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Services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—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$1,602,762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$1,602,762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$1,543,828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$1,602,762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$3,146,590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0" y="1463040"/>
          <a:ext cx="301752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206240"/>
            <a:ext cx="8412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Key Highlights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Services is the largest portfolio at 50% of total TCV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Meraki cloud-managed networking — 193 APs, 20 switches, 3 MX appliances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Cisco DNA Wireless — 525 AP licenses (IB: 132)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ISE Advantage — 3450 licenses (IB: 400)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ThousandEyes End User Monitoring — 1500 users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Splunk Cloud Platform — 50 GB/day ingestion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solidFill/>
              </a:rPr>
              <a:t>Networking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E0E0"/>
                </a:solidFill>
              </a:defRPr>
            </a:pPr>
            <a:r>
              <a:rPr>
                <a:solidFill/>
              </a:rPr>
              <a:t>Software TCV: $1,030,044  |  Services TCV: $1,127,847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Meraki Cloud-Managed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  193 × MR Essentials (wireless APs)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  20 × MS switches  |  3 × MX firewalls  |  2 × MV cameras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Data Center &amp; Campus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  C3850 48-Port DNA EA — 218 desired (IB: 0)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  Nexus 9300 XF 10G or higher (up to 3.6T) — 30 desired (IB: 22)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  Cisco DNA Wireless — 525 desired (IB: 132)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  C9500 48Y4C DNA EA — 16 desired (IB: 43)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  Cisco Spaces ACT subscription — 350 desired (IB: 0)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Top Support Services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  Cisco Support Standard 8x5xNBD for Switching: $385,433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  Cisco Support Standard 8x7xNCD for Switching: $246,936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  Cisco Support Standard SW for Switching: $138,048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  Cisco Support Standard 24x7x4 for Nexus Switching: $83,260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solidFill/>
              </a:rPr>
              <a:t>Security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E0E0"/>
                </a:solidFill>
              </a:defRPr>
            </a:pPr>
            <a:r>
              <a:rPr>
                <a:solidFill/>
              </a:rPr>
              <a:t>Software TCV: $76,727  |  Services TCV: $115,233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82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27431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Solution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Product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Qty (Desired)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TCV (USD)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Zero 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ISE Advantage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3450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$70,470</a:t>
                      </a:r>
                    </a:p>
                  </a:txBody>
                  <a:tcPr/>
                </a:tc>
              </a:tr>
              <a:tr h="274321"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Zero Trust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ISE Essentials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1100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$6,256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Security Content Users (SCU): 1,000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Top security services: Cisco Support Standard 8x5xNBD for  ($51,486), Cisco Support Standard Perpetual fo ($48,012), Cisco Support Standard SW Support O ($15,736)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solidFill/>
              </a:rPr>
              <a:t>Applications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E0E0"/>
                </a:solidFill>
              </a:defRPr>
            </a:pPr>
            <a:r>
              <a:rPr>
                <a:solidFill/>
              </a:rPr>
              <a:t>Software TCV: $437,058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Full Stack Observability — Cisco ThousandEyes - End User Monitoring Advantage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  Part Number: E3A-TE-USERS  |  Quantity: 1500  |  TCV: $314,280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Splunk — Splunk Cloud Subscription - Std success GBday (E3A-SK-SE-CLD-S)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  Part Number: E3A-SK-SE-CLD-S  |  Quantity: 50  |  TCV: $90,918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Full Stack Observability — ThousandEyes - Cloud and Enterprise Agents (per unit)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  Part Number: E3A-TE-UNITS  |  Quantity: 1500  |  TCV: $31,860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solidFill/>
              </a:rPr>
              <a:t>Support &amp; Lifecycle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E0E0"/>
                </a:solidFill>
              </a:defRPr>
            </a:pPr>
            <a:r>
              <a:rPr>
                <a:solidFill/>
              </a:rPr>
              <a:t>Total Services TCV: $1,602,762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TCV (USD)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Networking — Cisco DNA Switching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$840,227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Collaboration — Employee Experience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$359,682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Networking — Nexus Switching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$149,548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Security — ISE Support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$115,233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Networking — Cisco Networking Switching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$81,638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Networking — Cisco DNA Wireless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$33,114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Networking — Cisco DNA Spaces for Wireless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$19,705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Networking — Cisco Networking Subscription for Wireless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$3,615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solidFill/>
              </a:rPr>
              <a:t>Annual Cost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Based on 36-month term with annual billing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200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3-Year TCV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Estimated Annual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Software Subscriptions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$1,543,828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$514,609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Support &amp; Lifecycle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$1,602,762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$534,254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TOTAL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$3,146,590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/>
                        </a:rPr>
                        <a:t>$1,048,863</a:t>
                      </a:r>
                    </a:p>
                  </a:txBody>
                  <a:tcPr>
                    <a:solidFill>
                      <a:srgbClr val="2D3A5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9260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Approximate annual spend: $1,048,863/year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Billing model: Annual (invoiced yearly over 3-year term)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Programmatic discounts applied on EA 3.0 subscriptions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Pre-EA install base assets consumed upon EA activation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solidFill/>
              </a:rPr>
              <a:t>Portfolios Not in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0E0E0"/>
                </a:solidFill>
              </a:defRPr>
            </a:pPr>
            <a:r>
              <a:rPr>
                <a:solidFill/>
              </a:rPr>
              <a:t>The following EA portfolios have no line items in this proposal:</a:t>
            </a:r>
          </a:p>
          <a:p>
            <a:pPr>
              <a:defRPr sz="1400" b="0">
                <a:solidFill>
                  <a:srgbClr val="E0E0E0"/>
                </a:solidFill>
              </a:defRPr>
            </a:pPr>
          </a:p>
          <a:p>
            <a:pPr>
              <a:defRPr sz="14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Hybrid Cloud</a:t>
            </a:r>
          </a:p>
          <a:p>
            <a:pPr>
              <a:defRPr sz="14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Provider Connectivity</a:t>
            </a:r>
          </a:p>
          <a:p>
            <a:pPr>
              <a:defRPr sz="14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Cisco Professional Services</a:t>
            </a:r>
          </a:p>
          <a:p>
            <a:pPr>
              <a:defRPr sz="1400" b="0">
                <a:solidFill>
                  <a:srgbClr val="E0E0E0"/>
                </a:solidFill>
              </a:defRPr>
            </a:pPr>
          </a:p>
          <a:p>
            <a:pPr>
              <a:defRPr sz="1400" b="0">
                <a:solidFill>
                  <a:srgbClr val="E0E0E0"/>
                </a:solidFill>
              </a:defRPr>
            </a:pPr>
            <a:r>
              <a:rPr>
                <a:solidFill/>
              </a:rPr>
              <a:t>These can be added in future EA amendments if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solidFill/>
              </a:rPr>
              <a:t>Recommended Professional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E0"/>
                </a:solidFill>
              </a:defRPr>
            </a:pPr>
            <a:r>
              <a:rPr>
                <a:solidFill/>
              </a:rPr>
              <a:t>Context</a:t>
            </a:r>
          </a:p>
          <a:p>
            <a:pPr>
              <a:defRPr sz="11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Professional Services are not included in Proposal 9325586 ($1,602,762 support is in scope).</a:t>
            </a:r>
          </a:p>
          <a:p>
            <a:pPr>
              <a:defRPr sz="11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Recommendations align EA portfolios with Cisco Support / PS lifecycle: Activate → Integrate → Optimize.</a:t>
            </a:r>
          </a:p>
          <a:p>
            <a:pPr>
              <a:defRPr sz="1100" b="0">
                <a:solidFill>
                  <a:srgbClr val="E0E0E0"/>
                </a:solidFill>
              </a:defRPr>
            </a:pPr>
          </a:p>
          <a:p>
            <a:pPr>
              <a:defRPr sz="1100" b="0">
                <a:solidFill>
                  <a:srgbClr val="E0E0E0"/>
                </a:solidFill>
              </a:defRPr>
            </a:pPr>
            <a:r>
              <a:rPr>
                <a:solidFill/>
              </a:rPr>
              <a:t>Tier 1 — EA Activation (Must-Have)</a:t>
            </a:r>
          </a:p>
          <a:p>
            <a:pPr>
              <a:defRPr sz="11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Enterprise Agreement Management Support (included with Services EA purchase)</a:t>
            </a:r>
          </a:p>
          <a:p>
            <a:pPr>
              <a:defRPr sz="11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Install Base Assessment &amp; Entitlement Reconciliation</a:t>
            </a:r>
          </a:p>
          <a:p>
            <a:pPr>
              <a:defRPr sz="11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EA Activation &amp; License Consumption Planning</a:t>
            </a:r>
          </a:p>
          <a:p>
            <a:pPr>
              <a:defRPr sz="1100" b="0">
                <a:solidFill>
                  <a:srgbClr val="E0E0E0"/>
                </a:solidFill>
              </a:defRPr>
            </a:pPr>
          </a:p>
          <a:p>
            <a:pPr>
              <a:defRPr sz="1100" b="0">
                <a:solidFill>
                  <a:srgbClr val="E0E0E0"/>
                </a:solidFill>
              </a:defRPr>
            </a:pPr>
            <a:r>
              <a:rPr>
                <a:solidFill/>
              </a:rPr>
              <a:t>Tier 2 — Highest EA Impact</a:t>
            </a:r>
          </a:p>
          <a:p>
            <a:pPr>
              <a:defRPr sz="11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Meraki At-Scale Deployment — 193 APs, 20 switches</a:t>
            </a:r>
          </a:p>
          <a:p>
            <a:pPr>
              <a:defRPr sz="11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ISE Deployment &amp; Policy Migration — large ISE Advantage footprint</a:t>
            </a:r>
          </a:p>
          <a:p>
            <a:pPr>
              <a:defRPr sz="11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ThousandEyes Deployment &amp; Baseline Digital Experience Monitoring</a:t>
            </a:r>
          </a:p>
          <a:p>
            <a:pPr>
              <a:defRPr sz="11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Splunk Cloud Onboarding &amp; Data Ingestion Optimization</a:t>
            </a:r>
          </a:p>
          <a:p>
            <a:pPr>
              <a:defRPr sz="11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Catalyst / Nexus DNA EA Onboarding &amp; Automation</a:t>
            </a:r>
          </a:p>
          <a:p>
            <a:pPr>
              <a:defRPr sz="1100" b="0">
                <a:solidFill>
                  <a:srgbClr val="E0E0E0"/>
                </a:solidFill>
              </a:defRPr>
            </a:pPr>
          </a:p>
          <a:p>
            <a:pPr>
              <a:defRPr sz="1100" b="0">
                <a:solidFill>
                  <a:srgbClr val="E0E0E0"/>
                </a:solidFill>
              </a:defRPr>
            </a:pPr>
            <a:r>
              <a:rPr>
                <a:solidFill/>
              </a:rPr>
              <a:t>Tier 3 — Support &amp; Enablement</a:t>
            </a:r>
          </a:p>
          <a:p>
            <a:pPr>
              <a:defRPr sz="11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Services EA wrapper, Signature/Standard support tiers</a:t>
            </a:r>
          </a:p>
          <a:p>
            <a:pPr>
              <a:defRPr sz="11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Cisco Learning Credits for admin and engineering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0E0E0"/>
                </a:solidFill>
              </a:defRPr>
            </a:pPr>
            <a:r>
              <a:rPr>
                <a:solidFill/>
              </a:rPr>
              <a:t>Cisco Confidential | Indicative PS Recommendations — Not a formal quote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solidFill/>
              </a:rPr>
              <a:t>Next Steps &amp; Important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Important Disclaimers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This is indicative pricing only — NOT an approved Cisco quote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Pricing is subject to change until formal quote approval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Pre-EA install base licenses will be consumed at EA activation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Recommended Actions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Review portfolio quantities against current install base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Validate Meraki counts (193 APs) against deployment plan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Confirm ISE Advantage license count (3450 desired, IB: 400)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Confirm support coverage levels (8x5xNBD vs 24x7x4) meet SLA requirements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Work with WORLD WIDE TECHNOLOGY, INC and Cisco AM Robin Randolph (robrando@cisco.com) to finalize quote</a:t>
            </a:r>
          </a:p>
          <a:p>
            <a:pPr>
              <a:defRPr sz="1200" b="0">
                <a:solidFill>
                  <a:srgbClr val="E0E0E0"/>
                </a:solidFill>
              </a:defRPr>
            </a:pPr>
            <a:r>
              <a:rPr>
                <a:solidFill/>
              </a:rPr>
              <a:t>• EA Proposal Link: apps.cisco.com/ea/project/proposal/9325586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0E0E0"/>
                </a:solidFill>
              </a:defRPr>
            </a:pPr>
            <a:r>
              <a:rPr>
                <a:solidFill/>
              </a:rPr>
              <a:t>Cisco Confidential | Indicative Pricing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sco Dark Theme">
  <a:themeElements>
    <a:clrScheme name="Cisco Dark">
      <a:dk1>
        <a:srgbClr val="E0E0E0"/>
      </a:dk1>
      <a:lt1>
        <a:srgbClr val="1A2B4A"/>
      </a:lt1>
      <a:dk2>
        <a:srgbClr val="007BC7"/>
      </a:dk2>
      <a:lt2>
        <a:srgbClr val="2D3A52"/>
      </a:lt2>
      <a:accent1>
        <a:srgbClr val="007BC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sco Dark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sco 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