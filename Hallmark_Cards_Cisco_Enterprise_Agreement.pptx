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C4A35A"/>
                </a:solidFill>
                <a:latin typeface="Calibri"/>
              </a:rPr>
              <a:t>CISCO ENTERPRISE AGREEMENT  ·  PROPOSAL ID 9325586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Hallmark Cards, Incorporated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00BCEB"/>
                </a:solidFill>
                <a:latin typeface="Calibri"/>
              </a:rPr>
              <a:t>3-Year Cisco Enterprise Agreement  |  Hallmark CX 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08960"/>
            <a:ext cx="2011680" cy="54864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25603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2736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36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83280"/>
            <a:ext cx="25603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BILLING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602736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Annual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383280"/>
            <a:ext cx="25603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HALLMARK TCV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02736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$4.06M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39" y="3383280"/>
            <a:ext cx="25603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BOOK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39" y="3602736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16 Oct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C5D4E3"/>
                </a:solidFill>
                <a:latin typeface="Calibri"/>
              </a:rPr>
              <a:t>Partner: World Wide Technology, Inc    ·    Cisco AM: Robin Randolph    ·    Buying Program: EA85986
Smart Account: HALLMARK CARDS, INCORPORATED    ·    Deal ID 85356428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CISCO CONFIDENTIAL  ·  Indicative  ·  22.5 pts partner GM on Cisco EA net  ·  Not an approved Cisco quote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HALLMARK CX 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113385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109728" cy="84124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17904"/>
            <a:ext cx="914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499616"/>
            <a:ext cx="9601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52B4E"/>
                </a:solidFill>
                <a:latin typeface="Calibri"/>
              </a:rPr>
              <a:t>Deal snapshot &amp; commercial terms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10512"/>
            <a:ext cx="9601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Who, what, when, and how this EA is structured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331720"/>
            <a:ext cx="113385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331720"/>
            <a:ext cx="109728" cy="84124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478024"/>
            <a:ext cx="914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59736"/>
            <a:ext cx="9601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52B4E"/>
                </a:solidFill>
                <a:latin typeface="Calibri"/>
              </a:rPr>
              <a:t>Investment with 22.5 pts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770632"/>
            <a:ext cx="9601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Cisco EA net, partner GM, Hallmark price vs. 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291840"/>
            <a:ext cx="113385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291840"/>
            <a:ext cx="109728" cy="84124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38144"/>
            <a:ext cx="914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419856"/>
            <a:ext cx="9601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52B4E"/>
                </a:solidFill>
                <a:latin typeface="Calibri"/>
              </a:rPr>
              <a:t>Portfolio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30752"/>
            <a:ext cx="9601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Networking, Applications, Security, and Collaboration CX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251960"/>
            <a:ext cx="113385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251960"/>
            <a:ext cx="109728" cy="84124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98264"/>
            <a:ext cx="914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379976"/>
            <a:ext cx="9601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52B4E"/>
                </a:solidFill>
                <a:latin typeface="Calibri"/>
              </a:rPr>
              <a:t>Bill of materials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90872"/>
            <a:ext cx="9601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Suite commitments, quantities, and Hallmark TCV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212080"/>
            <a:ext cx="1133856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212080"/>
            <a:ext cx="109728" cy="84124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358384"/>
            <a:ext cx="9144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5340096"/>
            <a:ext cx="9601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52B4E"/>
                </a:solidFill>
                <a:latin typeface="Calibri"/>
              </a:rPr>
              <a:t>EA operating model &amp; next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650992"/>
            <a:ext cx="9601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True-forward, annual billing, and path to book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DEAL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Hallmark CX EA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Proposal 8-31-26 1Hallmark 3 year 10-16-26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98448"/>
          <a:ext cx="11338560" cy="5074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8229600"/>
              </a:tblGrid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End customer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Hallmark Cards, Incorporated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Sold-to address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2501 McGee Traffic Way, Kansas City, MO 64141, US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Account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HALLMARK CARDS INC US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Smart Account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HALLMARK CARDS, INCORPORATED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Partner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World Wide Technology, Inc  (Bill-to 1001363275)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Cisco Account Manager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Robin Randolph  ·  robrando@cisco.com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Project / motion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Hallmark CX EA  ·  Enterprise Agreement (EA)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Buying Program ID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EA85986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Deal ID / Proposal ID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85356428  /  9325586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Price list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Global Price List US Availability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Requested ship / book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16 October 2026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Duration / billing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 months  ·  Annual billing  ·  No capital financing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52B4E"/>
                          </a:solidFill>
                          <a:latin typeface="Calibri"/>
                        </a:rPr>
                        <a:t>Customer pricing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EA net + 22.5 pts partner gross margin  ·  Hallmark TCV $4.06M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WHY THIS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Cisco Enterprise Agreement for Hallmark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One buying program across Networking, Applications, Security, and CX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258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3703320" cy="7315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337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Predictable 3-year spend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Fixed EA rates for the 36-month term with annual true-forward. Growth is licensed at contracted EA pricing rather than one-off quotes.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3258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3703320" cy="7315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554480"/>
            <a:ext cx="3337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Suite coverage, not SKU sprawl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0312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Full-commitment suites (Catalyst switching/wireless, Nexus, Meraki, ISE, Splunk, ThousandEyes) plus targeted partial suites (Spaces, Meraki cameras).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258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25880"/>
            <a:ext cx="3703320" cy="7315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554480"/>
            <a:ext cx="3337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Software + CX aligned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EA software subscriptions and Cisco Support Standard / Enhanced services ride together so coverage, SLAs, and software entitlement stay in lockstep.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7947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3703320" cy="73152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23360"/>
            <a:ext cx="3337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Installed-base credit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In-use assets (IB) generate one-time discounts and uncovered-asset credits, reducing net TCV versus buying the same footprint a la carte.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7947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0" y="3794760"/>
            <a:ext cx="3703320" cy="73152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4023360"/>
            <a:ext cx="3337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Partner-delivered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World Wide Technology is the reseller of record, with Cisco AM sponsorship and Hallmark’s Smart Account as the entitlement home.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947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794760"/>
            <a:ext cx="3703320" cy="73152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023360"/>
            <a:ext cx="33375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Operational simplicity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57200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Annual billing, a single buying program (EA85986), and one expected book date (16 Oct 2026) in place of staggered renewals.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COMMERCIAL WRAP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22.5 points of partner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Gross margin on Cisco EA net  ·  Hallmark price = Cisco net ÷ 0.775  ·  Applied to every line in this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3152" cy="111556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CISCO EA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$3.15M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$3,146,589.96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98448"/>
            <a:ext cx="73152" cy="111556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PARTNER GM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22.5 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$913,526.12  ·  29.0%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98448"/>
            <a:ext cx="73152" cy="111556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HALLMARK PRICE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$4.06M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$4,060,116.08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298448"/>
            <a:ext cx="73152" cy="1115568"/>
          </a:xfrm>
          <a:prstGeom prst="rect">
            <a:avLst/>
          </a:prstGeom>
          <a:solidFill>
            <a:srgbClr val="2E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0859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VS. CISCO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41.9%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List $6.99M  ·  Save $2.93M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11480" y="2633472"/>
          <a:ext cx="11338560" cy="2606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2743200"/>
                <a:gridCol w="2743200"/>
                <a:gridCol w="274320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CISCO EA NET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22.5 PTS GM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HALLMARK PRICE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Networking software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$1,030,043.52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$299,044.89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$1,329,088.41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Applications software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$437,058.00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$126,887.81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$563,945.81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software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$76,726.68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$22,275.49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$99,002.17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CX services (all)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$1,602,761.76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$465,317.93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$2,068,079.69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$3,146,589.96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$913,526.12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$4,060,116.08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5394960"/>
            <a:ext cx="1124712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All software and services TCV figures from this slide forward are Hallmark (sell) prices. Cisco list, subscription-discount %, IB credits, and one-time discounts are unchanged from the EAMP export — only the customer-facing contract value includes the 22.5-point wrap. True-forward of additional quantity will use the same margin method.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INVESTMENT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Hallmark 3-year contract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Includes 22.5 pts partner GM on Cisco EA net  ·  USD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25880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73152" cy="111556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17320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3-YEAR HALLMARK TCV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36776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$4.06M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39112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$4,060,116.08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325880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325880"/>
            <a:ext cx="73152" cy="111556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417320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636776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$1.99M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039112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49% of Hallmark TCV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25880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25880"/>
            <a:ext cx="73152" cy="111556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417320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CISCO CX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1636776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$2.07M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039112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51% of Hallmark TCV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325880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325880"/>
            <a:ext cx="73152" cy="111556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08592" y="1417320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VS.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1636776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42%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039112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List $6.99M  ·  Save $2.93M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651760"/>
            <a:ext cx="566928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8892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How the investment is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15468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Networking software is the largest software block at $1.33M (Catalyst DNA, Nexus, Meraki, Spaces).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Applications add Splunk Cloud (50 GB/day) and ThousandEyes (1,500 agents + 1,500 EUM users) for $564K.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Security is ISE Advantage (3,450) and Essentials (1,100) at $99K software plus $149K CX.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•  CX services ($2.07M) cover switching, wireless, Nexus, ISE, and Collaboration hardware support.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651760"/>
            <a:ext cx="5577840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278892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Commercial mechanics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46520" y="3154680"/>
          <a:ext cx="5120640" cy="2971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2651760"/>
              </a:tblGrid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Annual payment (even)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$1,353,372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Implied monthly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$112,781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Partner margin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22.5 pts GM  ($913,526)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Subscription discount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Up to 68% (Networking, Cisco net)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Programmatic discount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5–10% by suite (Cisco net)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One-time discounts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$475,060  (Cisco net, already in)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Billing model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Annual, 36 months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Financing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052B4E"/>
                          </a:solidFill>
                          <a:latin typeface="Calibri"/>
                        </a:rPr>
                        <a:t>None (cash / standard)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FINANCIAL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Portfolio Hallmark pricing (USD)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Cisco EA net + 22.5 pts GM  ·  List prices unchanged from EAMP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56032" y="1325880"/>
          <a:ext cx="11658600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6040"/>
                <a:gridCol w="1783080"/>
                <a:gridCol w="1783080"/>
                <a:gridCol w="1965960"/>
                <a:gridCol w="1737360"/>
                <a:gridCol w="178308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SOFTWARE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SERVICES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CISCO NET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LIST PRICE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Networking Infrastructure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$1,329,088.41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$0.00*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$1,329,088.41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$1,030,043.52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$3,252,177.72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Applications Infrastructure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$563,945.81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$563,945.81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$437,058.00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$650,862.00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$99,002.17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$0.00*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$99,002.17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$76,726.68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$136,243.50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Services (CX rollup)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$2,068,079.69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$2,068,079.69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$1,602,761.76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$2,948,542.56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$1,992,036.39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$2,068,079.69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$4,060,116.08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$3,146,589.96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$6,987,825.78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343400"/>
            <a:ext cx="11430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A6472"/>
                </a:solidFill>
                <a:latin typeface="Calibri"/>
              </a:rPr>
              <a:t>* CX is rolled up on the Services row. Hallmark CX: Networking $1,455,286  ·  Security $148,688  ·  Collaboration $464,105.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754880"/>
            <a:ext cx="3703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3337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5A6472"/>
                </a:solidFill>
                <a:latin typeface="Calibri"/>
              </a:rPr>
              <a:t>EFFECTIVE DISCOUNT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38928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52B4E"/>
                </a:solidFill>
                <a:latin typeface="Calibri"/>
              </a:rPr>
              <a:t>41.9%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50992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List $6.99M → Hallmark $4.06M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754880"/>
            <a:ext cx="3703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4892040"/>
            <a:ext cx="3337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5A6472"/>
                </a:solidFill>
                <a:latin typeface="Calibri"/>
              </a:rPr>
              <a:t>SOFTWARE MIX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138928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52B4E"/>
                </a:solidFill>
                <a:latin typeface="Calibri"/>
              </a:rPr>
              <a:t>49 / 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650992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SW $1.99M  ·  CX $2.07M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54880"/>
            <a:ext cx="3703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892040"/>
            <a:ext cx="3337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5A6472"/>
                </a:solidFill>
                <a:latin typeface="Calibri"/>
              </a:rPr>
              <a:t>PARTNER WRAP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138928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052B4E"/>
                </a:solidFill>
                <a:latin typeface="Calibri"/>
              </a:rPr>
              <a:t>22.5 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650992"/>
            <a:ext cx="3337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GM $914K on Cisco net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WHERE THE INVESTMENT GOES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Hallmark TCV by portfolio (software + attached CX)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CX from each portfolio sheet is shown with its parent technology  ·  22.5 pts GM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5A6472"/>
                </a:solidFill>
                <a:latin typeface="Calibri"/>
              </a:rPr>
              <a:t>Relative scale of 3-year Hallmark contract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214884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Networking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1755648"/>
            <a:ext cx="5392918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4406" y="164592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$2.78M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176272"/>
            <a:ext cx="7772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A6472"/>
                </a:solidFill>
                <a:latin typeface="Calibri"/>
              </a:rPr>
              <a:t>Software $1.33M  ·  CX $1.46M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97480"/>
            <a:ext cx="214884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Collaboration CX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807208"/>
            <a:ext cx="898903" cy="438912"/>
          </a:xfrm>
          <a:prstGeom prst="roundRect">
            <a:avLst>
              <a:gd name="adj" fmla="val 8000"/>
            </a:avLst>
          </a:prstGeom>
          <a:solidFill>
            <a:srgbClr val="049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0391" y="269748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$464K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27832"/>
            <a:ext cx="7772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A6472"/>
                </a:solidFill>
                <a:latin typeface="Calibri"/>
              </a:rPr>
              <a:t>Support only  ·  no new collab SW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749040"/>
            <a:ext cx="214884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Applications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3858768"/>
            <a:ext cx="1092279" cy="438912"/>
          </a:xfrm>
          <a:prstGeom prst="roundRect">
            <a:avLst>
              <a:gd name="adj" fmla="val 8000"/>
            </a:avLst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3767" y="3749040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$564K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279392"/>
            <a:ext cx="7772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A6472"/>
                </a:solidFill>
                <a:latin typeface="Calibri"/>
              </a:rPr>
              <a:t>Splunk + ThousandEyes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00599"/>
            <a:ext cx="214884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4910327"/>
            <a:ext cx="479739" cy="43891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1227" y="4800599"/>
            <a:ext cx="21945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$248K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330951"/>
            <a:ext cx="7772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5A6472"/>
                </a:solidFill>
                <a:latin typeface="Calibri"/>
              </a:rPr>
              <a:t>ISE software  ·  + ISE 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1645920"/>
            <a:ext cx="2194560" cy="4297680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1920240"/>
            <a:ext cx="1920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HALLMARK TCV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240280"/>
            <a:ext cx="19202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$4.06M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154680"/>
            <a:ext cx="1920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0BCEB"/>
                </a:solidFill>
                <a:latin typeface="Calibri"/>
              </a:rPr>
              <a:t>Networking  69%
Collab CX  11%
Applications  14%
Security  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NETWORKING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Campus, data center, Meraki, and Spaces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Software $1,329,088  ·  CX $1,455,286  ·  36 months  ·  22.5 pts GM included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298448"/>
          <a:ext cx="11521439" cy="5029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3977639"/>
                <a:gridCol w="1051560"/>
                <a:gridCol w="2148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COMMIT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ENTITLEMENT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SW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Meraki – Network Infrastructure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MX XL Essentials, MR, MS100/MS300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$58,971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Meraki – Camera Systems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MV Large Essentials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$535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Networking Wireless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CW Advantage + Essential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$491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Networking Switching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Access T1 Large/Medium Essential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$73,974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Nexus Switching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N9300 XF/XF2 Advantage + Essential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$393,123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Spaces (wireless add-on)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Spaces ACT subscription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$83,404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DNA Switching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C3850/C9300/C9500/C9200 DNA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$580,060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DNA Wireless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DNA Wireless Advantage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525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$138,531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 SOFTWARE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$1,329,088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NETWORKING SOFTWARE — DETAIL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Meraki, Catalyst Networking, and Nexus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Hallmark TCV includes 22.5 pts GM  ·  Qty Found = IB  ·  68% Cisco subscription discount on most PIDs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80160"/>
          <a:ext cx="10698480" cy="5074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4160520"/>
                <a:gridCol w="1051560"/>
                <a:gridCol w="777240"/>
                <a:gridCol w="868680"/>
                <a:gridCol w="1600200"/>
              </a:tblGrid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PID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E3N-MX-XL-E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Meraki MX X-Large Essentials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$22,574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E3N-MR-E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Meraki MR Essentials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$30,122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E3N-MS-100-S/M/L-E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Meraki MS100 Small/Med/Large Essentials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$1,793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E3N-MS-300-M/L-A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Meraki MS300 Medium/Large Advantage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$4,481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E3N-MV-E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Meraki MV Large Essentials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$535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E3N-CW-A / E3N-CW-E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Cisco Networking Wireless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Adv/Ess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$491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E3N-CS-AC1-L-E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Access T1 Large Essential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Ess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$50,485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E3N-CS-AC1-M-E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Access T1 Medium Essential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$23,490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E3N-N9300-XF2-A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9300 XF2 or higher (to 6.4T)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$45,729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E3N-N9300-XF-A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9300 XF 10G+ (to 3.6T)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$313,702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037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E3N-N9300-XF-E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9300 XF 10G+ (to 3.6T)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Ess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$33,692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038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E3N-SPACES-ACT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Cisco Spaces ACT subscription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$83,404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NETWORKING SOFTWARE — DETAIL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Cisco DNA Switching and Wireless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Hallmark TCV includes 22.5 pts GM  ·  C3850 48-port Advantage is the single largest software PID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80160"/>
          <a:ext cx="10698480" cy="5074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4160520"/>
                <a:gridCol w="1051560"/>
                <a:gridCol w="777240"/>
                <a:gridCol w="868680"/>
                <a:gridCol w="1600200"/>
              </a:tblGrid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PID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E3N-C38502-A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C3850 48-Port DNA EA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$395,438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E3N-C95005-A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C9500 48Y4C DNA EA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$91,343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E3N-C93002-A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C9300/C9300X 48-Port DNA EA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$34,347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E3N-C95003-A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C9500 32C DNA EA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$23,287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E3N-C9200CX2-A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C9200CX 12-Port DNA EA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$8,633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E3N-C36502-A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C3650 48-Port DNA EA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$7,256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E3N-C9300X2-A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C9300X 24-Port DNA EA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$5,803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E3N-C95002-A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C9500 Low Port (12Q/16X) DNA EA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$6,833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E3N-C38501-A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C3850 24-Port DNA EA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$2,901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E3N-C95005-E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C9500 48Y4C DNA EA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$2,404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E3N-C93001-A / others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C9300 24 / C3560CX / C9200L 48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$1,815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6249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E3N-AIRWLAN-A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Cisco DNA Wireless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Adv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525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$138,531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62498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 DNA + WIRELESS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$718,591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NETWORKING 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Support &amp; lifecycle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Hallmark CX $1,455,286  ·  Cisco Support Standard unless noted Enhanced  ·  22.5 pts GM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280160"/>
          <a:ext cx="11521440" cy="5074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4023360"/>
                <a:gridCol w="1417320"/>
                <a:gridCol w="1188720"/>
                <a:gridCol w="242316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PID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 ASSETS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DISC %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E3-CX-ST-T1NBD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 8x5xNBD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$497,333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E3-CX-ST-T1NCD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 8x7xNCD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1,053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$318,627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E3-CX-ST-T1SWT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 software support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$178,126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E3-CX-CS-ENBD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Cisco Switching  8x5xNBD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$105,339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E3-CX-DCN-T14HR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 24x7x4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$107,432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E3-CX-ST-T14HR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 24x7x4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$73,575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E3-CXST-AIR-T1SWP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Wireless  software support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$42,728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E3-CX-DCN-L1SWPERP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 perpetual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$35,489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E3-CX-DCN-T1NBD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 8x5xNBD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$29,899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E3-CX-DNS-T1SWC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Spaces / DNAS cloud SW (Enhanced)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$25,426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E3-CX-DCN-T1NCD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Nexus  8x7xNCD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$20,145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E3-CX-ST-T1NOS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Switching  8x5xNBD OS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$16,502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E3-CX-CW-ENCD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Cisco Wireless  8x7xNCD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$4,665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 NETWORKING CX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$1,455,286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APPLICATIONS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Splunk Cloud and ThousandEyes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Hallmark TCV $563,946  ·  No attached CX  ·  Full commitment  ·  22.5 pts 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3152" cy="111556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PORTFOLIO TCV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$563,946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100% software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98448"/>
            <a:ext cx="73152" cy="111556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SPLUNK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$117,314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50 GB/day  ·  42% Cisco sub disc.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98448"/>
            <a:ext cx="73152" cy="1115568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THOUSANDEYES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$446,632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Agents + EUM  ·  30% Cisco sub disc.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298448"/>
            <a:ext cx="73152" cy="1115568"/>
          </a:xfrm>
          <a:prstGeom prst="rect">
            <a:avLst/>
          </a:prstGeom>
          <a:solidFill>
            <a:srgbClr val="2E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0859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SUCCESS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Included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Splunk Standard Success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0040" y="2651760"/>
          <a:ext cx="11521440" cy="2788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4297680"/>
                <a:gridCol w="1005840"/>
                <a:gridCol w="1554480"/>
                <a:gridCol w="1188720"/>
                <a:gridCol w="1463040"/>
              </a:tblGrid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PID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UNIT LIST / MO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SUB DISC.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E3A-SK-SE-CLD-S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Splunk Cloud Subscription — Std success (GB/day)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$87.09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$117,314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E3-CX-SK-SUP-ST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Splunk Standard Success Plan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E3A-TE-UNITS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ThousandEyes Cloud &amp; Enterprise Agents (per unit)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$0.84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$41,110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E3A-TE-USERS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ThousandEyes End User Monitoring Advantage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$8.31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$405,523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E3A-TE-S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Support Basic for EA ThousandEyes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398418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$563,946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11480" y="5577840"/>
            <a:ext cx="1133856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Use case fit: Splunk Cloud gives Hallmark a 50 GB/day security/observability ingest baseline on-contract. ThousandEyes (1,500 cloud/enterprise units + 1,500 EUM seats) extends digital-experience visibility across retail, HQ, and partner paths — aligned to the CX EA motion.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Identity Services Engine (Zero Trust)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SCU 1,000  ·  Software $99,002  ·  CX $148,688  ·  Combined $247,691  ·  22.5 pts 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3152" cy="111556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ISE ADVANTAGE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3,450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IB 400  →  desired 3,450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98448"/>
            <a:ext cx="73152" cy="1115568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ISE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1,100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IB 300  →  desired 1,100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98448"/>
            <a:ext cx="73152" cy="1115568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SOFTWARE TCV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$99,002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42% Cisco subscription discount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298448"/>
            <a:ext cx="278892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298448"/>
            <a:ext cx="73152" cy="1115568"/>
          </a:xfrm>
          <a:prstGeom prst="rect">
            <a:avLst/>
          </a:prstGeom>
          <a:solidFill>
            <a:srgbClr val="2E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08592" y="1389888"/>
            <a:ext cx="25328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5A6472"/>
                </a:solidFill>
                <a:latin typeface="Calibri"/>
              </a:rPr>
              <a:t>ISE CX TCV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592" y="1609344"/>
            <a:ext cx="25328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52B4E"/>
                </a:solidFill>
                <a:latin typeface="Calibri"/>
              </a:rPr>
              <a:t>$148,688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592" y="2011680"/>
            <a:ext cx="2532888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5A6472"/>
                </a:solidFill>
                <a:latin typeface="Calibri"/>
              </a:rPr>
              <a:t>Support Standard + credits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0040" y="2633472"/>
          <a:ext cx="1152144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4297680"/>
                <a:gridCol w="960120"/>
                <a:gridCol w="1097280"/>
                <a:gridCol w="1051560"/>
                <a:gridCol w="2011680"/>
              </a:tblGrid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PID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DISC.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E3S-ISE-ADV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ISE Advantage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3,450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$90,929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E3S-ISE-ESS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ISE Essentials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1,100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$8,073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SVS-E3S-ISE-B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Support Basic for ISE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E3-CX-ISE-ENBD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Support Standard  8x5xNBD for ISE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$66,433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E3-CX-ISE-EPER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Cisco Support Standard Perpetual for ISE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$61,951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E3-CX-ISE-ESWP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Support Standard SW Support OP for ISE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$20,304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E3-CX-ISE-ENCD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Support Standard  8x7xNCD for ISE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 SECURITY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$247,691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CX only — Employee Experience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No new Collaboration software  ·  Hallmark CX $464,105  ·  22.5 pts 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25880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What is in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10972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This EA continues Cisco Support Standard on the existing Collaboration installed base (Employee Experience). There is no Webex or Calling software subscription on Proposal 9325586. Uncovered-asset credits and a program-migration incentive reduce Cisco net CX versus list; 22.5 pts GM is then applied.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2788920"/>
          <a:ext cx="11521439" cy="1965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3246120"/>
                <a:gridCol w="777240"/>
                <a:gridCol w="731520"/>
                <a:gridCol w="1234440"/>
                <a:gridCol w="1691640"/>
                <a:gridCol w="1874519"/>
              </a:tblGrid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PID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IB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QTY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CREDITS / OTD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HALLMARK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E3-CX-COL-ENBD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Support Standard  8x5xNBD  COLLAB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$414,060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Migration $44,362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$353,251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E3-CX-COL-ENCD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Support Standard  8x7xNCD  COLLAB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$145,359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Uncovered $21,425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$110,854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$559,419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$464,105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65760" y="4983480"/>
            <a:ext cx="114300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102352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52B4E"/>
                </a:solidFill>
                <a:latin typeface="Calibri"/>
              </a:rPr>
              <a:t>Why keep Collaboration CX on the 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Folding 202 Collaboration support assets into the same 36-month EA avoids a separate TAC/hardware contract, applies EA service discounts (23–26%) plus IB credits, and keeps one partner (WWT) and one book date for campus, DC, ISE, and collab hardware support.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COMMERCIAL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Annual billing over 36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Even annual cash view of Hallmark TCV (Cisco net + 22.5 pts GM)  —  invoices follow Cisco EA billing + partner wrap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25880"/>
          <a:ext cx="1133856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057400"/>
                <a:gridCol w="2057400"/>
                <a:gridCol w="2103120"/>
                <a:gridCol w="210312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SOFTWARE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SERVICES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CUMULATIVE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Year 1  (from 16 Oct 2026)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$664,012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$689,360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$1,353,372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$1,353,372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$664,012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$689,360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$1,353,372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$2,706,744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$664,012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$689,360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$1,353,372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Calibri"/>
                        </a:rPr>
                        <a:t>$4,060,116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3-YEAR TCV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$1,992,036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$2,068,080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$4,060,116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$4,060,116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388620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886200"/>
            <a:ext cx="3657600" cy="7315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069080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52B4E"/>
                </a:solidFill>
                <a:latin typeface="Calibri"/>
              </a:rPr>
              <a:t>True-forward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60"/>
            <a:ext cx="32918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EA quantities are a floor. Additional consumption is licensed at EA rates, then wrapped with the same 22.5 pts GM — no surprise list-price true-ups.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388620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3886200"/>
            <a:ext cx="3657600" cy="73152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4069080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52B4E"/>
                </a:solidFill>
                <a:latin typeface="Calibri"/>
              </a:rPr>
              <a:t>IB credits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480560"/>
            <a:ext cx="32918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Cisco one-time discounts ($475K) are already in Cisco net. The 22.5-pt wrap is applied after those credits, not on top of list.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88620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3886200"/>
            <a:ext cx="3657600" cy="73152"/>
          </a:xfrm>
          <a:prstGeom prst="rect">
            <a:avLst/>
          </a:prstGeom>
          <a:solidFill>
            <a:srgbClr val="049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069080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52B4E"/>
                </a:solidFill>
                <a:latin typeface="Calibri"/>
              </a:rPr>
              <a:t>Partner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480560"/>
            <a:ext cx="32918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WWT is reseller of record (services bill-to 1001363275). 22.5 pts GM is the partner commercial wrap on this EA.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Hallmark price versus Cisco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List $6,987,826  ·  Hallmark $4,060,116  ·  Savings $2,927,710  (41.9%)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98448"/>
          <a:ext cx="11338560" cy="2606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2057400"/>
                <a:gridCol w="2057400"/>
                <a:gridCol w="2057400"/>
                <a:gridCol w="205740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HALLMARK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SAVINGS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EFFECTIVE %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Networking software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$3,252,178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$1,329,088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$1,923,089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59.1%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Applications software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$650,862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$563,946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$86,916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software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$136,244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$99,002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$37,241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27.3%</a:t>
                      </a:r>
                    </a:p>
                  </a:txBody>
                  <a:tcPr marL="60000" marR="60000" marT="40000" marB="400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CX services (all)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$2,948,543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$2,068,080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$880,463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29.9%</a:t>
                      </a:r>
                    </a:p>
                  </a:txBody>
                  <a:tcPr marL="60000" marR="60000" marT="40000" marB="40000" anchor="ctr">
                    <a:solidFill>
                      <a:srgbClr val="EEF3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$6,987,826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$4,060,116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$2,927,710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b="1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41.9%</a:t>
                      </a:r>
                    </a:p>
                  </a:txBody>
                  <a:tcPr marL="60000" marR="60000" marT="40000" marB="40000" anchor="ctr">
                    <a:solidFill>
                      <a:srgbClr val="052B4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411480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251960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Cisco discounts still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09160"/>
            <a:ext cx="329184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EA 3.0 suite discounts (up to 68% Networking, 30–42% Apps, 23–35% CX) sit underneath the partner wrap.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11480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4251960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22.5 pts GM wrap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709160"/>
            <a:ext cx="329184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Hallmark price = Cisco EA net ÷ 0.775. Partner margin is $913,526 over three years — not a reduction of Cisco list discount.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11480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251960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52B4E"/>
                </a:solidFill>
                <a:latin typeface="Calibri"/>
              </a:rPr>
              <a:t>Still 41.9% vs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709160"/>
            <a:ext cx="329184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5A6472"/>
                </a:solidFill>
                <a:latin typeface="Calibri"/>
              </a:rPr>
              <a:t>After margin, Hallmark is $2.93M under Cisco list $6.99M, with predictable annual true-forward at the same method.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C4A35A"/>
                </a:solidFill>
                <a:latin typeface="Calibri"/>
              </a:rPr>
              <a:t>PATH TO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9184"/>
            <a:ext cx="11338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Recommended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0BCEB"/>
                </a:solidFill>
                <a:latin typeface="Calibri"/>
              </a:rPr>
              <a:t>Target book / RSD: 16 October 2026  ·  Hallmark TCV $4.06M with 22.5 pts 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258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2704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2704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581912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Confirm quantities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Validate Qty Desired vs. IB for Catalyst DNA (especially C3850 x218 and DNA Wireless x525), ISE 3,450/1,100, and ThousandEyes 1,500/1,500.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258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52704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52704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581912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Lock suite mix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0312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Keep Full commitment on core suites; confirm Partial is still correct for Spaces ACT and Meraki cameras.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2588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21040" y="152704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52704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581912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WWT quote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10312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Convert this EAMP estimate to a WWT / Cisco approved quote at 22.5 pts GM. This file is indicative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7947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399592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99592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050792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Smart Account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7200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Confirm HALLMARK CARDS, INCORPORATED Smart Account is the entitlement destination before book.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37947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34840" y="399592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399592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4050792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Legal / EA paper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57200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Standard Cisco EA 3.0 terms, true-forward, and CX service descriptions via WWT.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7947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21040" y="3995928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99592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4050792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52B4E"/>
                </a:solidFill>
                <a:latin typeface="Calibri"/>
              </a:rPr>
              <a:t>Book 16 Oct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572000"/>
            <a:ext cx="333756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Align PO, annual billing, and RSD so software and CX start together.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656832"/>
            <a:ext cx="77724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CISCO CONFIDENTIAL  |  Indicative  ·  22.5 pts GM on Cisco EA net  |  Not an approved Cisco quote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6656832"/>
            <a:ext cx="219456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Hallmark CX EA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C4A35A"/>
                </a:solidFill>
                <a:latin typeface="Calibri"/>
              </a:rPr>
              <a:t>HALLMARK CX EA  ·  PROPOSAL 9325586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Ready when Hallmark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00BCEB"/>
                </a:solidFill>
                <a:latin typeface="Calibri"/>
              </a:rPr>
              <a:t>A 36-month Enterprise Agreement covering campus, data center, Meraki, Spaces,
ISE, Splunk, ThousandEyes, and Cisco CX — $4.06M Hallmark price versus $6.99M list.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3383280" cy="54864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4A35A"/>
                </a:solidFill>
                <a:latin typeface="Calibri"/>
              </a:rPr>
              <a:t>CUSTOMER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18688"/>
            <a:ext cx="33832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Hallmark Cards, Incorporated
2501 McGee Traffic Way
Kansas City, MO 64141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43200"/>
            <a:ext cx="3383280" cy="54864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926080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4A35A"/>
                </a:solidFill>
                <a:latin typeface="Calibri"/>
              </a:rPr>
              <a:t>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218688"/>
            <a:ext cx="33832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World Wide Technology, Inc
Reseller of record
22.5 pts GM wrap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43200"/>
            <a:ext cx="3383280" cy="54864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926080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4A35A"/>
                </a:solidFill>
                <a:latin typeface="Calibri"/>
              </a:rPr>
              <a:t>CISCO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218688"/>
            <a:ext cx="33832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Robin Randolph
Cisco Account Manager
robrando@cisco.com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C5D4E3"/>
                </a:solidFill>
                <a:latin typeface="Calibri"/>
              </a:rPr>
              <a:t>Disclaimer: Derived from Cisco EAMP Price Estimate ID 9325586 (08-Sep-2026), then wrapped with 22.5 points of partner gross margin.
Indicative pricing only — NOT an approved Cisco quote. Pricing is subject to change.
CISCO CONFIDENTIAL — do not distribute outside Hallmark, World Wide Technology, and Cisco deal teams.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