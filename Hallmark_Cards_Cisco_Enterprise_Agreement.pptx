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4A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234440"/>
            <a:ext cx="109728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C4A35A"/>
                </a:solidFill>
                <a:latin typeface="Calibri"/>
              </a:rPr>
              <a:t>CISCO ENTERPRISE AGREEMENT  ·  PROPOSAL ID 9325586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45920"/>
            <a:ext cx="10972800" cy="10058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600" b="1">
                <a:solidFill>
                  <a:srgbClr val="FFFFFF"/>
                </a:solidFill>
                <a:latin typeface="Calibri"/>
              </a:rPr>
              <a:t>Hallmark Cards, Incorporated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468880"/>
            <a:ext cx="109728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200" b="0">
                <a:solidFill>
                  <a:srgbClr val="00BCEB"/>
                </a:solidFill>
                <a:latin typeface="Calibri"/>
              </a:rPr>
              <a:t>3-Year Cisco Enterprise Agreement  |  Hallmark CX EA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3108960"/>
            <a:ext cx="2011680" cy="54864"/>
          </a:xfrm>
          <a:prstGeom prst="rect">
            <a:avLst/>
          </a:prstGeom>
          <a:solidFill>
            <a:srgbClr val="C4A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3383280"/>
            <a:ext cx="256032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>
                <a:solidFill>
                  <a:srgbClr val="C4A35A"/>
                </a:solidFill>
                <a:latin typeface="Calibri"/>
              </a:rPr>
              <a:t>TERM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602736"/>
            <a:ext cx="25603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</a:rPr>
              <a:t>36 months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29000" y="3383280"/>
            <a:ext cx="256032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>
                <a:solidFill>
                  <a:srgbClr val="C4A35A"/>
                </a:solidFill>
                <a:latin typeface="Calibri"/>
              </a:rPr>
              <a:t>BILLING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29000" y="3602736"/>
            <a:ext cx="25603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</a:rPr>
              <a:t>Annual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3383280"/>
            <a:ext cx="256032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>
                <a:solidFill>
                  <a:srgbClr val="C4A35A"/>
                </a:solidFill>
                <a:latin typeface="Calibri"/>
              </a:rPr>
              <a:t>NET TCV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0" y="3602736"/>
            <a:ext cx="25603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</a:rPr>
              <a:t>$3.15M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06839" y="3383280"/>
            <a:ext cx="256032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>
                <a:solidFill>
                  <a:srgbClr val="C4A35A"/>
                </a:solidFill>
                <a:latin typeface="Calibri"/>
              </a:rPr>
              <a:t>BOOK DATE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06839" y="3602736"/>
            <a:ext cx="25603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</a:rPr>
              <a:t>16 Oct 2026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572000"/>
            <a:ext cx="105156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C5D4E3"/>
                </a:solidFill>
                <a:latin typeface="Calibri"/>
              </a:rPr>
              <a:t>Partner: World Wide Technology, Inc    ·    Cisco AM: Robin Randolph    ·    Buying Program: EA85986
Smart Account: HALLMARK CARDS, INCORPORATED    ·    Deal ID 85356428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989320"/>
            <a:ext cx="1097280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C4A35A"/>
                </a:solidFill>
                <a:latin typeface="Calibri"/>
              </a:rPr>
              <a:t>CISCO CONFIDENTIAL  ·  Indicative pricing only as of 08-Sep-2026  ·  This is not an approved Cisco quote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05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1078992"/>
          </a:xfrm>
          <a:prstGeom prst="rect">
            <a:avLst/>
          </a:prstGeom>
          <a:solidFill>
            <a:srgbClr val="C4A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09728"/>
            <a:ext cx="1133856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>
                <a:solidFill>
                  <a:srgbClr val="C4A35A"/>
                </a:solidFill>
                <a:latin typeface="Calibri"/>
              </a:rPr>
              <a:t>HALLMARK CX EA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29184"/>
            <a:ext cx="1133856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Agenda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1371600"/>
            <a:ext cx="11338560" cy="8412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1480" y="1371600"/>
            <a:ext cx="109728" cy="841248"/>
          </a:xfrm>
          <a:prstGeom prst="rect">
            <a:avLst/>
          </a:prstGeom>
          <a:solidFill>
            <a:srgbClr val="C4A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517904"/>
            <a:ext cx="914400" cy="5486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2200" b="1">
                <a:solidFill>
                  <a:srgbClr val="052B4E"/>
                </a:solidFill>
                <a:latin typeface="Calibri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37360" y="1499616"/>
            <a:ext cx="9601200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>
                <a:solidFill>
                  <a:srgbClr val="052B4E"/>
                </a:solidFill>
                <a:latin typeface="Calibri"/>
              </a:rPr>
              <a:t>Deal snapshot &amp; commercial terms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37360" y="1810512"/>
            <a:ext cx="96012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5A6472"/>
                </a:solidFill>
                <a:latin typeface="Calibri"/>
              </a:rPr>
              <a:t>Who, what, when, and how this EA is structured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1480" y="2331720"/>
            <a:ext cx="11338560" cy="8412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11480" y="2331720"/>
            <a:ext cx="109728" cy="841248"/>
          </a:xfrm>
          <a:prstGeom prst="rect">
            <a:avLst/>
          </a:prstGeom>
          <a:solidFill>
            <a:srgbClr val="049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2478024"/>
            <a:ext cx="914400" cy="5486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2200" b="1">
                <a:solidFill>
                  <a:srgbClr val="052B4E"/>
                </a:solidFill>
                <a:latin typeface="Calibri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37360" y="2459736"/>
            <a:ext cx="9601200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>
                <a:solidFill>
                  <a:srgbClr val="052B4E"/>
                </a:solidFill>
                <a:latin typeface="Calibri"/>
              </a:rPr>
              <a:t>Investment summary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37360" y="2770632"/>
            <a:ext cx="96012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5A6472"/>
                </a:solidFill>
                <a:latin typeface="Calibri"/>
              </a:rPr>
              <a:t>Net TCV, software vs. services, and savings versus list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11480" y="3291840"/>
            <a:ext cx="11338560" cy="8412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11480" y="3291840"/>
            <a:ext cx="109728" cy="841248"/>
          </a:xfrm>
          <a:prstGeom prst="rect">
            <a:avLst/>
          </a:prstGeom>
          <a:solidFill>
            <a:srgbClr val="C4A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3438144"/>
            <a:ext cx="914400" cy="5486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2200" b="1">
                <a:solidFill>
                  <a:srgbClr val="052B4E"/>
                </a:solidFill>
                <a:latin typeface="Calibri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37360" y="3419856"/>
            <a:ext cx="9601200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>
                <a:solidFill>
                  <a:srgbClr val="052B4E"/>
                </a:solidFill>
                <a:latin typeface="Calibri"/>
              </a:rPr>
              <a:t>Portfolio architecture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37360" y="3730752"/>
            <a:ext cx="96012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5A6472"/>
                </a:solidFill>
                <a:latin typeface="Calibri"/>
              </a:rPr>
              <a:t>Networking, Applications, Security, and Collaboration CX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11480" y="4251960"/>
            <a:ext cx="11338560" cy="8412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11480" y="4251960"/>
            <a:ext cx="109728" cy="841248"/>
          </a:xfrm>
          <a:prstGeom prst="rect">
            <a:avLst/>
          </a:prstGeom>
          <a:solidFill>
            <a:srgbClr val="049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4398264"/>
            <a:ext cx="914400" cy="5486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2200" b="1">
                <a:solidFill>
                  <a:srgbClr val="052B4E"/>
                </a:solidFill>
                <a:latin typeface="Calibri"/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737360" y="4379976"/>
            <a:ext cx="9601200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>
                <a:solidFill>
                  <a:srgbClr val="052B4E"/>
                </a:solidFill>
                <a:latin typeface="Calibri"/>
              </a:rPr>
              <a:t>Bill of materials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737360" y="4690872"/>
            <a:ext cx="96012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5A6472"/>
                </a:solidFill>
                <a:latin typeface="Calibri"/>
              </a:rPr>
              <a:t>Suite commitments, quantities, and contract value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11480" y="5212080"/>
            <a:ext cx="11338560" cy="8412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11480" y="5212080"/>
            <a:ext cx="109728" cy="841248"/>
          </a:xfrm>
          <a:prstGeom prst="rect">
            <a:avLst/>
          </a:prstGeom>
          <a:solidFill>
            <a:srgbClr val="C4A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1520" y="5358384"/>
            <a:ext cx="914400" cy="5486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2200" b="1">
                <a:solidFill>
                  <a:srgbClr val="052B4E"/>
                </a:solidFill>
                <a:latin typeface="Calibri"/>
              </a:rPr>
              <a:t>05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737360" y="5340096"/>
            <a:ext cx="9601200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>
                <a:solidFill>
                  <a:srgbClr val="052B4E"/>
                </a:solidFill>
                <a:latin typeface="Calibri"/>
              </a:rPr>
              <a:t>EA operating model &amp; next steps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37360" y="5650992"/>
            <a:ext cx="96012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5A6472"/>
                </a:solidFill>
                <a:latin typeface="Calibri"/>
              </a:rPr>
              <a:t>True-forward, annual billing, and path to book</a:t>
            </a:r>
          </a:p>
        </p:txBody>
      </p:sp>
      <p:sp>
        <p:nvSpPr>
          <p:cNvPr id="32" name="Rectangle 31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5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20040" y="6656832"/>
            <a:ext cx="7772400" cy="20116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900" b="0">
                <a:solidFill>
                  <a:srgbClr val="FFFFFF"/>
                </a:solidFill>
                <a:latin typeface="Calibri"/>
              </a:rPr>
              <a:t>CISCO CONFIDENTIAL  |  Indicative pricing as of 08-Sep-2026  |  Not an approved Cisco quote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92640" y="6656832"/>
            <a:ext cx="2194560" cy="20116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900" b="0">
                <a:solidFill>
                  <a:srgbClr val="FFFFFF"/>
                </a:solidFill>
                <a:latin typeface="Calibri"/>
              </a:rPr>
              <a:t>Hallmark CX EA  ·  2 / 18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05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1078992"/>
          </a:xfrm>
          <a:prstGeom prst="rect">
            <a:avLst/>
          </a:prstGeom>
          <a:solidFill>
            <a:srgbClr val="C4A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09728"/>
            <a:ext cx="1133856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>
                <a:solidFill>
                  <a:srgbClr val="C4A35A"/>
                </a:solidFill>
                <a:latin typeface="Calibri"/>
              </a:rPr>
              <a:t>DEAL SNAPSHOT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29184"/>
            <a:ext cx="1133856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Hallmark CX EA at a glance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713232"/>
            <a:ext cx="1133856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00BCEB"/>
                </a:solidFill>
                <a:latin typeface="Calibri"/>
              </a:rPr>
              <a:t>Proposal 8-31-26 1Hallmark 3 year 10-16-26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11480" y="1298448"/>
          <a:ext cx="11338560" cy="507492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108960"/>
                <a:gridCol w="8229600"/>
              </a:tblGrid>
              <a:tr h="390378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FIELD</a:t>
                      </a:r>
                    </a:p>
                  </a:txBody>
                  <a:tcPr marL="60000" marR="60000" marT="40000" marB="40000" anchor="ctr">
                    <a:solidFill>
                      <a:srgbClr val="052B4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DETAIL</a:t>
                      </a:r>
                    </a:p>
                  </a:txBody>
                  <a:tcPr marL="60000" marR="60000" marT="40000" marB="40000" anchor="ctr">
                    <a:solidFill>
                      <a:srgbClr val="052B4E"/>
                    </a:solidFill>
                  </a:tcPr>
                </a:tc>
              </a:tr>
              <a:tr h="390378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052B4E"/>
                          </a:solidFill>
                          <a:latin typeface="Calibri"/>
                        </a:rPr>
                        <a:t>End customer</a:t>
                      </a:r>
                    </a:p>
                  </a:txBody>
                  <a:tcPr marL="60000" marR="60000" marT="40000" marB="4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Hallmark Cards, Incorporated</a:t>
                      </a:r>
                    </a:p>
                  </a:txBody>
                  <a:tcPr marL="60000" marR="60000" marT="40000" marB="40000" anchor="ctr">
                    <a:solidFill>
                      <a:srgbClr val="FFFFFF"/>
                    </a:solidFill>
                  </a:tcPr>
                </a:tc>
              </a:tr>
              <a:tr h="390378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052B4E"/>
                          </a:solidFill>
                          <a:latin typeface="Calibri"/>
                        </a:rPr>
                        <a:t>Sold-to address</a:t>
                      </a:r>
                    </a:p>
                  </a:txBody>
                  <a:tcPr marL="60000" marR="60000" marT="40000" marB="40000" anchor="ctr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2501 McGee Traffic Way, Kansas City, MO 64141, US</a:t>
                      </a:r>
                    </a:p>
                  </a:txBody>
                  <a:tcPr marL="60000" marR="60000" marT="40000" marB="40000" anchor="ctr">
                    <a:solidFill>
                      <a:srgbClr val="EEF3F8"/>
                    </a:solidFill>
                  </a:tcPr>
                </a:tc>
              </a:tr>
              <a:tr h="390378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052B4E"/>
                          </a:solidFill>
                          <a:latin typeface="Calibri"/>
                        </a:rPr>
                        <a:t>Account</a:t>
                      </a:r>
                    </a:p>
                  </a:txBody>
                  <a:tcPr marL="60000" marR="60000" marT="40000" marB="4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HALLMARK CARDS INC US</a:t>
                      </a:r>
                    </a:p>
                  </a:txBody>
                  <a:tcPr marL="60000" marR="60000" marT="40000" marB="40000" anchor="ctr">
                    <a:solidFill>
                      <a:srgbClr val="FFFFFF"/>
                    </a:solidFill>
                  </a:tcPr>
                </a:tc>
              </a:tr>
              <a:tr h="390378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052B4E"/>
                          </a:solidFill>
                          <a:latin typeface="Calibri"/>
                        </a:rPr>
                        <a:t>Smart Account</a:t>
                      </a:r>
                    </a:p>
                  </a:txBody>
                  <a:tcPr marL="60000" marR="60000" marT="40000" marB="40000" anchor="ctr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HALLMARK CARDS, INCORPORATED</a:t>
                      </a:r>
                    </a:p>
                  </a:txBody>
                  <a:tcPr marL="60000" marR="60000" marT="40000" marB="40000" anchor="ctr">
                    <a:solidFill>
                      <a:srgbClr val="EEF3F8"/>
                    </a:solidFill>
                  </a:tcPr>
                </a:tc>
              </a:tr>
              <a:tr h="390378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052B4E"/>
                          </a:solidFill>
                          <a:latin typeface="Calibri"/>
                        </a:rPr>
                        <a:t>Partner</a:t>
                      </a:r>
                    </a:p>
                  </a:txBody>
                  <a:tcPr marL="60000" marR="60000" marT="40000" marB="4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World Wide Technology, Inc  (Bill-to 1001363275)</a:t>
                      </a:r>
                    </a:p>
                  </a:txBody>
                  <a:tcPr marL="60000" marR="60000" marT="40000" marB="40000" anchor="ctr">
                    <a:solidFill>
                      <a:srgbClr val="FFFFFF"/>
                    </a:solidFill>
                  </a:tcPr>
                </a:tc>
              </a:tr>
              <a:tr h="390378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052B4E"/>
                          </a:solidFill>
                          <a:latin typeface="Calibri"/>
                        </a:rPr>
                        <a:t>Cisco Account Manager</a:t>
                      </a:r>
                    </a:p>
                  </a:txBody>
                  <a:tcPr marL="60000" marR="60000" marT="40000" marB="40000" anchor="ctr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Robin Randolph  ·  robrando@cisco.com</a:t>
                      </a:r>
                    </a:p>
                  </a:txBody>
                  <a:tcPr marL="60000" marR="60000" marT="40000" marB="40000" anchor="ctr">
                    <a:solidFill>
                      <a:srgbClr val="EEF3F8"/>
                    </a:solidFill>
                  </a:tcPr>
                </a:tc>
              </a:tr>
              <a:tr h="390378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052B4E"/>
                          </a:solidFill>
                          <a:latin typeface="Calibri"/>
                        </a:rPr>
                        <a:t>Project / motion</a:t>
                      </a:r>
                    </a:p>
                  </a:txBody>
                  <a:tcPr marL="60000" marR="60000" marT="40000" marB="4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Hallmark CX EA  ·  Enterprise Agreement (EA)</a:t>
                      </a:r>
                    </a:p>
                  </a:txBody>
                  <a:tcPr marL="60000" marR="60000" marT="40000" marB="40000" anchor="ctr">
                    <a:solidFill>
                      <a:srgbClr val="FFFFFF"/>
                    </a:solidFill>
                  </a:tcPr>
                </a:tc>
              </a:tr>
              <a:tr h="390378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052B4E"/>
                          </a:solidFill>
                          <a:latin typeface="Calibri"/>
                        </a:rPr>
                        <a:t>Buying Program ID</a:t>
                      </a:r>
                    </a:p>
                  </a:txBody>
                  <a:tcPr marL="60000" marR="60000" marT="40000" marB="40000" anchor="ctr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EA85986</a:t>
                      </a:r>
                    </a:p>
                  </a:txBody>
                  <a:tcPr marL="60000" marR="60000" marT="40000" marB="40000" anchor="ctr">
                    <a:solidFill>
                      <a:srgbClr val="EEF3F8"/>
                    </a:solidFill>
                  </a:tcPr>
                </a:tc>
              </a:tr>
              <a:tr h="390378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052B4E"/>
                          </a:solidFill>
                          <a:latin typeface="Calibri"/>
                        </a:rPr>
                        <a:t>Deal ID / Proposal ID</a:t>
                      </a:r>
                    </a:p>
                  </a:txBody>
                  <a:tcPr marL="60000" marR="60000" marT="40000" marB="4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85356428  /  9325586</a:t>
                      </a:r>
                    </a:p>
                  </a:txBody>
                  <a:tcPr marL="60000" marR="60000" marT="40000" marB="40000" anchor="ctr">
                    <a:solidFill>
                      <a:srgbClr val="FFFFFF"/>
                    </a:solidFill>
                  </a:tcPr>
                </a:tc>
              </a:tr>
              <a:tr h="390378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052B4E"/>
                          </a:solidFill>
                          <a:latin typeface="Calibri"/>
                        </a:rPr>
                        <a:t>Price list</a:t>
                      </a:r>
                    </a:p>
                  </a:txBody>
                  <a:tcPr marL="60000" marR="60000" marT="40000" marB="40000" anchor="ctr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Global Price List US Availability</a:t>
                      </a:r>
                    </a:p>
                  </a:txBody>
                  <a:tcPr marL="60000" marR="60000" marT="40000" marB="40000" anchor="ctr">
                    <a:solidFill>
                      <a:srgbClr val="EEF3F8"/>
                    </a:solidFill>
                  </a:tcPr>
                </a:tc>
              </a:tr>
              <a:tr h="390378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052B4E"/>
                          </a:solidFill>
                          <a:latin typeface="Calibri"/>
                        </a:rPr>
                        <a:t>Requested ship / book</a:t>
                      </a:r>
                    </a:p>
                  </a:txBody>
                  <a:tcPr marL="60000" marR="60000" marT="40000" marB="4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16 October 2026</a:t>
                      </a:r>
                    </a:p>
                  </a:txBody>
                  <a:tcPr marL="60000" marR="60000" marT="40000" marB="40000" anchor="ctr">
                    <a:solidFill>
                      <a:srgbClr val="FFFFFF"/>
                    </a:solidFill>
                  </a:tcPr>
                </a:tc>
              </a:tr>
              <a:tr h="390384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052B4E"/>
                          </a:solidFill>
                          <a:latin typeface="Calibri"/>
                        </a:rPr>
                        <a:t>Duration / billing</a:t>
                      </a:r>
                    </a:p>
                  </a:txBody>
                  <a:tcPr marL="60000" marR="60000" marT="40000" marB="40000" anchor="ctr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36 months  ·  Annual billing  ·  No capital financing</a:t>
                      </a:r>
                    </a:p>
                  </a:txBody>
                  <a:tcPr marL="60000" marR="60000" marT="40000" marB="40000" anchor="ctr">
                    <a:solidFill>
                      <a:srgbClr val="EEF3F8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5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40" y="6656832"/>
            <a:ext cx="7772400" cy="20116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900" b="0">
                <a:solidFill>
                  <a:srgbClr val="FFFFFF"/>
                </a:solidFill>
                <a:latin typeface="Calibri"/>
              </a:rPr>
              <a:t>CISCO CONFIDENTIAL  |  Indicative pricing as of 08-Sep-2026  |  Not an approved Cisco quote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92640" y="6656832"/>
            <a:ext cx="2194560" cy="20116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900" b="0">
                <a:solidFill>
                  <a:srgbClr val="FFFFFF"/>
                </a:solidFill>
                <a:latin typeface="Calibri"/>
              </a:rPr>
              <a:t>Hallmark CX EA  ·  3 / 18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05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1078992"/>
          </a:xfrm>
          <a:prstGeom prst="rect">
            <a:avLst/>
          </a:prstGeom>
          <a:solidFill>
            <a:srgbClr val="C4A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09728"/>
            <a:ext cx="1133856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>
                <a:solidFill>
                  <a:srgbClr val="C4A35A"/>
                </a:solidFill>
                <a:latin typeface="Calibri"/>
              </a:rPr>
              <a:t>WHY THIS STRUCTURE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29184"/>
            <a:ext cx="1133856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Cisco Enterprise Agreement for Hallmark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713232"/>
            <a:ext cx="1133856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00BCEB"/>
                </a:solidFill>
                <a:latin typeface="Calibri"/>
              </a:rPr>
              <a:t>One buying program across Networking, Applications, Security, and CX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1325880"/>
            <a:ext cx="3703320" cy="228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1325880"/>
            <a:ext cx="3703320" cy="73152"/>
          </a:xfrm>
          <a:prstGeom prst="rect">
            <a:avLst/>
          </a:prstGeom>
          <a:solidFill>
            <a:srgbClr val="C4A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1554480"/>
            <a:ext cx="333756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052B4E"/>
                </a:solidFill>
                <a:latin typeface="Calibri"/>
              </a:rPr>
              <a:t>Predictable 3-year spend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103120"/>
            <a:ext cx="3337560" cy="13258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5A6472"/>
                </a:solidFill>
                <a:latin typeface="Calibri"/>
              </a:rPr>
              <a:t>Fixed EA rates for the 36-month term with annual true-forward. Growth is licensed at contracted EA pricing rather than one-off quotes.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51960" y="1325880"/>
            <a:ext cx="3703320" cy="228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51960" y="1325880"/>
            <a:ext cx="3703320" cy="73152"/>
          </a:xfrm>
          <a:prstGeom prst="rect">
            <a:avLst/>
          </a:prstGeom>
          <a:solidFill>
            <a:srgbClr val="C4A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34840" y="1554480"/>
            <a:ext cx="333756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052B4E"/>
                </a:solidFill>
                <a:latin typeface="Calibri"/>
              </a:rPr>
              <a:t>Suite coverage, not SKU sprawl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34840" y="2103120"/>
            <a:ext cx="3337560" cy="13258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5A6472"/>
                </a:solidFill>
                <a:latin typeface="Calibri"/>
              </a:rPr>
              <a:t>Full-commitment suites (Catalyst switching/wireless, Nexus, Meraki, ISE, Splunk, ThousandEyes) plus targeted partial suites (Spaces, Meraki cameras).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38160" y="1325880"/>
            <a:ext cx="3703320" cy="228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138160" y="1325880"/>
            <a:ext cx="3703320" cy="73152"/>
          </a:xfrm>
          <a:prstGeom prst="rect">
            <a:avLst/>
          </a:prstGeom>
          <a:solidFill>
            <a:srgbClr val="C4A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21040" y="1554480"/>
            <a:ext cx="333756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052B4E"/>
                </a:solidFill>
                <a:latin typeface="Calibri"/>
              </a:rPr>
              <a:t>Software + CX aligned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1040" y="2103120"/>
            <a:ext cx="3337560" cy="13258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5A6472"/>
                </a:solidFill>
                <a:latin typeface="Calibri"/>
              </a:rPr>
              <a:t>EA software subscriptions and Cisco Support Standard / Enhanced services ride together so coverage, SLAs, and software entitlement stay in lockstep.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65760" y="3794760"/>
            <a:ext cx="3703320" cy="228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65760" y="3794760"/>
            <a:ext cx="3703320" cy="73152"/>
          </a:xfrm>
          <a:prstGeom prst="rect">
            <a:avLst/>
          </a:prstGeom>
          <a:solidFill>
            <a:srgbClr val="049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4023360"/>
            <a:ext cx="333756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052B4E"/>
                </a:solidFill>
                <a:latin typeface="Calibri"/>
              </a:rPr>
              <a:t>Installed-base credit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4572000"/>
            <a:ext cx="3337560" cy="13258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5A6472"/>
                </a:solidFill>
                <a:latin typeface="Calibri"/>
              </a:rPr>
              <a:t>In-use assets (IB) generate one-time discounts and uncovered-asset credits, reducing net TCV versus buying the same footprint a la carte.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251960" y="3794760"/>
            <a:ext cx="3703320" cy="228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251960" y="3794760"/>
            <a:ext cx="3703320" cy="73152"/>
          </a:xfrm>
          <a:prstGeom prst="rect">
            <a:avLst/>
          </a:prstGeom>
          <a:solidFill>
            <a:srgbClr val="049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434840" y="4023360"/>
            <a:ext cx="333756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052B4E"/>
                </a:solidFill>
                <a:latin typeface="Calibri"/>
              </a:rPr>
              <a:t>Partner-delivered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34840" y="4572000"/>
            <a:ext cx="3337560" cy="13258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5A6472"/>
                </a:solidFill>
                <a:latin typeface="Calibri"/>
              </a:rPr>
              <a:t>World Wide Technology is the reseller of record, with Cisco AM sponsorship and Hallmark’s Smart Account as the entitlement home.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138160" y="3794760"/>
            <a:ext cx="3703320" cy="228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138160" y="3794760"/>
            <a:ext cx="3703320" cy="73152"/>
          </a:xfrm>
          <a:prstGeom prst="rect">
            <a:avLst/>
          </a:prstGeom>
          <a:solidFill>
            <a:srgbClr val="049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321040" y="4023360"/>
            <a:ext cx="333756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052B4E"/>
                </a:solidFill>
                <a:latin typeface="Calibri"/>
              </a:rPr>
              <a:t>Operational simplicity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21040" y="4572000"/>
            <a:ext cx="3337560" cy="13258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5A6472"/>
                </a:solidFill>
                <a:latin typeface="Calibri"/>
              </a:rPr>
              <a:t>Annual billing, a single buying program (EA85986), and one expected book date (16 Oct 2026) in place of staggered renewals.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5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20040" y="6656832"/>
            <a:ext cx="7772400" cy="20116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900" b="0">
                <a:solidFill>
                  <a:srgbClr val="FFFFFF"/>
                </a:solidFill>
                <a:latin typeface="Calibri"/>
              </a:rPr>
              <a:t>CISCO CONFIDENTIAL  |  Indicative pricing as of 08-Sep-2026  |  Not an approved Cisco quote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92640" y="6656832"/>
            <a:ext cx="2194560" cy="20116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900" b="0">
                <a:solidFill>
                  <a:srgbClr val="FFFFFF"/>
                </a:solidFill>
                <a:latin typeface="Calibri"/>
              </a:rPr>
              <a:t>Hallmark CX EA  ·  4 / 18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05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1078992"/>
          </a:xfrm>
          <a:prstGeom prst="rect">
            <a:avLst/>
          </a:prstGeom>
          <a:solidFill>
            <a:srgbClr val="C4A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09728"/>
            <a:ext cx="1133856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>
                <a:solidFill>
                  <a:srgbClr val="C4A35A"/>
                </a:solidFill>
                <a:latin typeface="Calibri"/>
              </a:rPr>
              <a:t>INVESTMENT SUMMARY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29184"/>
            <a:ext cx="1133856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Net 3-year contract value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713232"/>
            <a:ext cx="1133856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00BCEB"/>
                </a:solidFill>
                <a:latin typeface="Calibri"/>
              </a:rPr>
              <a:t>Financial Summary (Net Pricing) from EAMP export — USD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1325880"/>
            <a:ext cx="2788920" cy="11155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1325880"/>
            <a:ext cx="73152" cy="1115568"/>
          </a:xfrm>
          <a:prstGeom prst="rect">
            <a:avLst/>
          </a:prstGeom>
          <a:solidFill>
            <a:srgbClr val="C4A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30352" y="1417320"/>
            <a:ext cx="2532888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1">
                <a:solidFill>
                  <a:srgbClr val="5A6472"/>
                </a:solidFill>
                <a:latin typeface="Calibri"/>
              </a:rPr>
              <a:t>3-YEAR NET TCV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" y="1636776"/>
            <a:ext cx="2532888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200" b="1">
                <a:solidFill>
                  <a:srgbClr val="052B4E"/>
                </a:solidFill>
                <a:latin typeface="Calibri"/>
              </a:rPr>
              <a:t>$3.15M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0352" y="2039112"/>
            <a:ext cx="2532888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>
                <a:solidFill>
                  <a:srgbClr val="5A6472"/>
                </a:solidFill>
                <a:latin typeface="Calibri"/>
              </a:rPr>
              <a:t>USD 3,146,589.96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91840" y="1325880"/>
            <a:ext cx="2788920" cy="11155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291840" y="1325880"/>
            <a:ext cx="73152" cy="1115568"/>
          </a:xfrm>
          <a:prstGeom prst="rect">
            <a:avLst/>
          </a:prstGeom>
          <a:solidFill>
            <a:srgbClr val="049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56432" y="1417320"/>
            <a:ext cx="2532888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1">
                <a:solidFill>
                  <a:srgbClr val="5A6472"/>
                </a:solidFill>
                <a:latin typeface="Calibri"/>
              </a:rPr>
              <a:t>SOFTWARE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56432" y="1636776"/>
            <a:ext cx="2532888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200" b="1">
                <a:solidFill>
                  <a:srgbClr val="052B4E"/>
                </a:solidFill>
                <a:latin typeface="Calibri"/>
              </a:rPr>
              <a:t>$1.54M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56432" y="2039112"/>
            <a:ext cx="2532888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>
                <a:solidFill>
                  <a:srgbClr val="5A6472"/>
                </a:solidFill>
                <a:latin typeface="Calibri"/>
              </a:rPr>
              <a:t>49% of net TCV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1325880"/>
            <a:ext cx="2788920" cy="11155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17920" y="1325880"/>
            <a:ext cx="73152" cy="1115568"/>
          </a:xfrm>
          <a:prstGeom prst="rect">
            <a:avLst/>
          </a:prstGeom>
          <a:solidFill>
            <a:srgbClr val="049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82512" y="1417320"/>
            <a:ext cx="2532888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1">
                <a:solidFill>
                  <a:srgbClr val="5A6472"/>
                </a:solidFill>
                <a:latin typeface="Calibri"/>
              </a:rPr>
              <a:t>CISCO CX SERVICES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82512" y="1636776"/>
            <a:ext cx="2532888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200" b="1">
                <a:solidFill>
                  <a:srgbClr val="052B4E"/>
                </a:solidFill>
                <a:latin typeface="Calibri"/>
              </a:rPr>
              <a:t>$1.60M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82512" y="2039112"/>
            <a:ext cx="2532888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>
                <a:solidFill>
                  <a:srgbClr val="5A6472"/>
                </a:solidFill>
                <a:latin typeface="Calibri"/>
              </a:rPr>
              <a:t>51% of net TCV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144000" y="1325880"/>
            <a:ext cx="2788920" cy="11155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144000" y="1325880"/>
            <a:ext cx="73152" cy="1115568"/>
          </a:xfrm>
          <a:prstGeom prst="rect">
            <a:avLst/>
          </a:prstGeom>
          <a:solidFill>
            <a:srgbClr val="049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308592" y="1417320"/>
            <a:ext cx="2532888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1">
                <a:solidFill>
                  <a:srgbClr val="5A6472"/>
                </a:solidFill>
                <a:latin typeface="Calibri"/>
              </a:rPr>
              <a:t>VS. LIST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08592" y="1636776"/>
            <a:ext cx="2532888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200" b="1">
                <a:solidFill>
                  <a:srgbClr val="052B4E"/>
                </a:solidFill>
                <a:latin typeface="Calibri"/>
              </a:rPr>
              <a:t>55% off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308592" y="2039112"/>
            <a:ext cx="2532888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>
                <a:solidFill>
                  <a:srgbClr val="5A6472"/>
                </a:solidFill>
                <a:latin typeface="Calibri"/>
              </a:rPr>
              <a:t>List $6.99M  ·  Save $3.84M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65760" y="2651760"/>
            <a:ext cx="5669280" cy="3703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94360" y="2788920"/>
            <a:ext cx="53035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052B4E"/>
                </a:solidFill>
                <a:latin typeface="Calibri"/>
              </a:rPr>
              <a:t>How the investment is built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4360" y="3154680"/>
            <a:ext cx="530352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•  Networking software is the largest software block at $1.03M net (Catalyst DNA, Nexus, Meraki, Spaces).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•  Applications add Splunk Cloud (50 GB/day) and ThousandEyes (1,500 agents + 1,500 EUM users) for $437K.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•  Security is ISE Advantage (3,450) and Essentials (1,100) at $77K software plus $115K CX.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•  CX services ($1.60M) cover switching, wireless, Nexus, ISE, and Collaboration hardware support.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217920" y="2651760"/>
            <a:ext cx="5577840" cy="3703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46520" y="2788920"/>
            <a:ext cx="521208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052B4E"/>
                </a:solidFill>
                <a:latin typeface="Calibri"/>
              </a:rPr>
              <a:t>Commercial mechanics</a:t>
            </a:r>
          </a:p>
        </p:txBody>
      </p:sp>
      <p:graphicFrame>
        <p:nvGraphicFramePr>
          <p:cNvPr id="33" name="Table 32"/>
          <p:cNvGraphicFramePr>
            <a:graphicFrameLocks noGrp="1"/>
          </p:cNvGraphicFramePr>
          <p:nvPr/>
        </p:nvGraphicFramePr>
        <p:xfrm>
          <a:off x="6446520" y="3154680"/>
          <a:ext cx="5120640" cy="29718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468880"/>
                <a:gridCol w="2651760"/>
              </a:tblGrid>
              <a:tr h="330200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TERM</a:t>
                      </a:r>
                    </a:p>
                  </a:txBody>
                  <a:tcPr marL="60000" marR="60000" marT="40000" marB="40000" anchor="ctr">
                    <a:solidFill>
                      <a:srgbClr val="052B4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VALUE</a:t>
                      </a:r>
                    </a:p>
                  </a:txBody>
                  <a:tcPr marL="60000" marR="60000" marT="40000" marB="40000" anchor="ctr">
                    <a:solidFill>
                      <a:srgbClr val="052B4E"/>
                    </a:solidFill>
                  </a:tcPr>
                </a:tc>
              </a:tr>
              <a:tr h="33020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Annual payment (even)</a:t>
                      </a:r>
                    </a:p>
                  </a:txBody>
                  <a:tcPr marL="60000" marR="60000" marT="40000" marB="4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052B4E"/>
                          </a:solidFill>
                          <a:latin typeface="Calibri"/>
                        </a:rPr>
                        <a:t>$1,048,863</a:t>
                      </a:r>
                    </a:p>
                  </a:txBody>
                  <a:tcPr marL="60000" marR="60000" marT="40000" marB="40000" anchor="ctr">
                    <a:solidFill>
                      <a:srgbClr val="FFFFFF"/>
                    </a:solidFill>
                  </a:tcPr>
                </a:tc>
              </a:tr>
              <a:tr h="33020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Implied monthly</a:t>
                      </a:r>
                    </a:p>
                  </a:txBody>
                  <a:tcPr marL="60000" marR="60000" marT="40000" marB="40000" anchor="ctr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052B4E"/>
                          </a:solidFill>
                          <a:latin typeface="Calibri"/>
                        </a:rPr>
                        <a:t>$87,405</a:t>
                      </a:r>
                    </a:p>
                  </a:txBody>
                  <a:tcPr marL="60000" marR="60000" marT="40000" marB="40000" anchor="ctr">
                    <a:solidFill>
                      <a:srgbClr val="EEF3F8"/>
                    </a:solidFill>
                  </a:tcPr>
                </a:tc>
              </a:tr>
              <a:tr h="33020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Subscription discount</a:t>
                      </a:r>
                    </a:p>
                  </a:txBody>
                  <a:tcPr marL="60000" marR="60000" marT="40000" marB="4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052B4E"/>
                          </a:solidFill>
                          <a:latin typeface="Calibri"/>
                        </a:rPr>
                        <a:t>Up to 68% (Networking)</a:t>
                      </a:r>
                    </a:p>
                  </a:txBody>
                  <a:tcPr marL="60000" marR="60000" marT="40000" marB="40000" anchor="ctr">
                    <a:solidFill>
                      <a:srgbClr val="FFFFFF"/>
                    </a:solidFill>
                  </a:tcPr>
                </a:tc>
              </a:tr>
              <a:tr h="33020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Programmatic discount</a:t>
                      </a:r>
                    </a:p>
                  </a:txBody>
                  <a:tcPr marL="60000" marR="60000" marT="40000" marB="40000" anchor="ctr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052B4E"/>
                          </a:solidFill>
                          <a:latin typeface="Calibri"/>
                        </a:rPr>
                        <a:t>5–10% by suite</a:t>
                      </a:r>
                    </a:p>
                  </a:txBody>
                  <a:tcPr marL="60000" marR="60000" marT="40000" marB="40000" anchor="ctr">
                    <a:solidFill>
                      <a:srgbClr val="EEF3F8"/>
                    </a:solidFill>
                  </a:tcPr>
                </a:tc>
              </a:tr>
              <a:tr h="33020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One-time discounts</a:t>
                      </a:r>
                    </a:p>
                  </a:txBody>
                  <a:tcPr marL="60000" marR="60000" marT="40000" marB="4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052B4E"/>
                          </a:solidFill>
                          <a:latin typeface="Calibri"/>
                        </a:rPr>
                        <a:t>$475,060</a:t>
                      </a:r>
                    </a:p>
                  </a:txBody>
                  <a:tcPr marL="60000" marR="60000" marT="40000" marB="40000" anchor="ctr">
                    <a:solidFill>
                      <a:srgbClr val="FFFFFF"/>
                    </a:solidFill>
                  </a:tcPr>
                </a:tc>
              </a:tr>
              <a:tr h="33020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IB / uncovered credits</a:t>
                      </a:r>
                    </a:p>
                  </a:txBody>
                  <a:tcPr marL="60000" marR="60000" marT="40000" marB="40000" anchor="ctr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052B4E"/>
                          </a:solidFill>
                          <a:latin typeface="Calibri"/>
                        </a:rPr>
                        <a:t>Applied on CX + software</a:t>
                      </a:r>
                    </a:p>
                  </a:txBody>
                  <a:tcPr marL="60000" marR="60000" marT="40000" marB="40000" anchor="ctr">
                    <a:solidFill>
                      <a:srgbClr val="EEF3F8"/>
                    </a:solidFill>
                  </a:tcPr>
                </a:tc>
              </a:tr>
              <a:tr h="33020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Billing model</a:t>
                      </a:r>
                    </a:p>
                  </a:txBody>
                  <a:tcPr marL="60000" marR="60000" marT="40000" marB="4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052B4E"/>
                          </a:solidFill>
                          <a:latin typeface="Calibri"/>
                        </a:rPr>
                        <a:t>Annual, 36 months</a:t>
                      </a:r>
                    </a:p>
                  </a:txBody>
                  <a:tcPr marL="60000" marR="60000" marT="40000" marB="40000" anchor="ctr">
                    <a:solidFill>
                      <a:srgbClr val="FFFFFF"/>
                    </a:solidFill>
                  </a:tcPr>
                </a:tc>
              </a:tr>
              <a:tr h="33020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Financing</a:t>
                      </a:r>
                    </a:p>
                  </a:txBody>
                  <a:tcPr marL="60000" marR="60000" marT="40000" marB="40000" anchor="ctr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052B4E"/>
                          </a:solidFill>
                          <a:latin typeface="Calibri"/>
                        </a:rPr>
                        <a:t>None (cash / standard)</a:t>
                      </a:r>
                    </a:p>
                  </a:txBody>
                  <a:tcPr marL="60000" marR="60000" marT="40000" marB="40000" anchor="ctr">
                    <a:solidFill>
                      <a:srgbClr val="EEF3F8"/>
                    </a:solidFill>
                  </a:tcPr>
                </a:tc>
              </a:tr>
            </a:tbl>
          </a:graphicData>
        </a:graphic>
      </p:graphicFrame>
      <p:sp>
        <p:nvSpPr>
          <p:cNvPr id="34" name="Rectangle 3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5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20040" y="6656832"/>
            <a:ext cx="7772400" cy="20116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900" b="0">
                <a:solidFill>
                  <a:srgbClr val="FFFFFF"/>
                </a:solidFill>
                <a:latin typeface="Calibri"/>
              </a:rPr>
              <a:t>CISCO CONFIDENTIAL  |  Indicative pricing as of 08-Sep-2026  |  Not an approved Cisco quote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692640" y="6656832"/>
            <a:ext cx="2194560" cy="20116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900" b="0">
                <a:solidFill>
                  <a:srgbClr val="FFFFFF"/>
                </a:solidFill>
                <a:latin typeface="Calibri"/>
              </a:rPr>
              <a:t>Hallmark CX EA  ·  5 / 18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05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1078992"/>
          </a:xfrm>
          <a:prstGeom prst="rect">
            <a:avLst/>
          </a:prstGeom>
          <a:solidFill>
            <a:srgbClr val="C4A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09728"/>
            <a:ext cx="1133856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>
                <a:solidFill>
                  <a:srgbClr val="C4A35A"/>
                </a:solidFill>
                <a:latin typeface="Calibri"/>
              </a:rPr>
              <a:t>FINANCIAL SUMMARY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29184"/>
            <a:ext cx="1133856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Portfolio net pricing (USD)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713232"/>
            <a:ext cx="1133856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00BCEB"/>
                </a:solidFill>
                <a:latin typeface="Calibri"/>
              </a:rPr>
              <a:t>Software and services as reported on the Proposal Summary sheet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274320" y="1325880"/>
          <a:ext cx="11612880" cy="288036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468880"/>
                <a:gridCol w="1554480"/>
                <a:gridCol w="1554480"/>
                <a:gridCol w="1600200"/>
                <a:gridCol w="1554480"/>
                <a:gridCol w="1463040"/>
                <a:gridCol w="1417320"/>
              </a:tblGrid>
              <a:tr h="480060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PORTFOLIO</a:t>
                      </a:r>
                    </a:p>
                  </a:txBody>
                  <a:tcPr marL="60000" marR="60000" marT="40000" marB="40000" anchor="ctr">
                    <a:solidFill>
                      <a:srgbClr val="052B4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SOFTWARE</a:t>
                      </a:r>
                    </a:p>
                  </a:txBody>
                  <a:tcPr marL="60000" marR="60000" marT="40000" marB="40000" anchor="ctr">
                    <a:solidFill>
                      <a:srgbClr val="052B4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SERVICES</a:t>
                      </a:r>
                    </a:p>
                  </a:txBody>
                  <a:tcPr marL="60000" marR="60000" marT="40000" marB="40000" anchor="ctr">
                    <a:solidFill>
                      <a:srgbClr val="052B4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NET TCV</a:t>
                      </a:r>
                    </a:p>
                  </a:txBody>
                  <a:tcPr marL="60000" marR="60000" marT="40000" marB="40000" anchor="ctr">
                    <a:solidFill>
                      <a:srgbClr val="052B4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LIST PRICE</a:t>
                      </a:r>
                    </a:p>
                  </a:txBody>
                  <a:tcPr marL="60000" marR="60000" marT="40000" marB="40000" anchor="ctr">
                    <a:solidFill>
                      <a:srgbClr val="052B4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DISCOUNT</a:t>
                      </a:r>
                    </a:p>
                  </a:txBody>
                  <a:tcPr marL="60000" marR="60000" marT="40000" marB="40000" anchor="ctr">
                    <a:solidFill>
                      <a:srgbClr val="052B4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ONE-TIME</a:t>
                      </a:r>
                    </a:p>
                  </a:txBody>
                  <a:tcPr marL="60000" marR="60000" marT="40000" marB="40000" anchor="ctr">
                    <a:solidFill>
                      <a:srgbClr val="052B4E"/>
                    </a:solidFill>
                  </a:tcPr>
                </a:tc>
              </a:tr>
              <a:tr h="48006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Networking Infrastructure</a:t>
                      </a:r>
                    </a:p>
                  </a:txBody>
                  <a:tcPr marL="60000" marR="60000" marT="40000" marB="4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$1,030,043.52</a:t>
                      </a:r>
                    </a:p>
                  </a:txBody>
                  <a:tcPr marL="60000" marR="60000" marT="40000" marB="4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$0.00*</a:t>
                      </a:r>
                    </a:p>
                  </a:txBody>
                  <a:tcPr marL="60000" marR="60000" marT="40000" marB="4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$1,030,043.52</a:t>
                      </a:r>
                    </a:p>
                  </a:txBody>
                  <a:tcPr marL="60000" marR="60000" marT="40000" marB="4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$3,252,177.72</a:t>
                      </a:r>
                    </a:p>
                  </a:txBody>
                  <a:tcPr marL="60000" marR="60000" marT="40000" marB="4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$2,211,543.72</a:t>
                      </a:r>
                    </a:p>
                  </a:txBody>
                  <a:tcPr marL="60000" marR="60000" marT="40000" marB="4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$10,590.48</a:t>
                      </a:r>
                    </a:p>
                  </a:txBody>
                  <a:tcPr marL="60000" marR="60000" marT="40000" marB="40000" anchor="ctr">
                    <a:solidFill>
                      <a:srgbClr val="FFFFFF"/>
                    </a:solidFill>
                  </a:tcPr>
                </a:tc>
              </a:tr>
              <a:tr h="48006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Applications Infrastructure</a:t>
                      </a:r>
                    </a:p>
                  </a:txBody>
                  <a:tcPr marL="60000" marR="60000" marT="40000" marB="40000" anchor="ctr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$437,058.00</a:t>
                      </a:r>
                    </a:p>
                  </a:txBody>
                  <a:tcPr marL="60000" marR="60000" marT="40000" marB="40000" anchor="ctr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$0.00</a:t>
                      </a:r>
                    </a:p>
                  </a:txBody>
                  <a:tcPr marL="60000" marR="60000" marT="40000" marB="40000" anchor="ctr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$437,058.00</a:t>
                      </a:r>
                    </a:p>
                  </a:txBody>
                  <a:tcPr marL="60000" marR="60000" marT="40000" marB="40000" anchor="ctr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$650,862.00</a:t>
                      </a:r>
                    </a:p>
                  </a:txBody>
                  <a:tcPr marL="60000" marR="60000" marT="40000" marB="40000" anchor="ctr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$213,804.00</a:t>
                      </a:r>
                    </a:p>
                  </a:txBody>
                  <a:tcPr marL="60000" marR="60000" marT="40000" marB="40000" anchor="ctr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$0.00</a:t>
                      </a:r>
                    </a:p>
                  </a:txBody>
                  <a:tcPr marL="60000" marR="60000" marT="40000" marB="40000" anchor="ctr">
                    <a:solidFill>
                      <a:srgbClr val="EEF3F8"/>
                    </a:solidFill>
                  </a:tcPr>
                </a:tc>
              </a:tr>
              <a:tr h="48006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Security</a:t>
                      </a:r>
                    </a:p>
                  </a:txBody>
                  <a:tcPr marL="60000" marR="60000" marT="40000" marB="4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$76,726.68</a:t>
                      </a:r>
                    </a:p>
                  </a:txBody>
                  <a:tcPr marL="60000" marR="60000" marT="40000" marB="4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$0.00*</a:t>
                      </a:r>
                    </a:p>
                  </a:txBody>
                  <a:tcPr marL="60000" marR="60000" marT="40000" marB="4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$76,726.68</a:t>
                      </a:r>
                    </a:p>
                  </a:txBody>
                  <a:tcPr marL="60000" marR="60000" marT="40000" marB="4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$136,243.50</a:t>
                      </a:r>
                    </a:p>
                  </a:txBody>
                  <a:tcPr marL="60000" marR="60000" marT="40000" marB="4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$57,226.50</a:t>
                      </a:r>
                    </a:p>
                  </a:txBody>
                  <a:tcPr marL="60000" marR="60000" marT="40000" marB="4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$2,290.32</a:t>
                      </a:r>
                    </a:p>
                  </a:txBody>
                  <a:tcPr marL="60000" marR="60000" marT="40000" marB="40000" anchor="ctr">
                    <a:solidFill>
                      <a:srgbClr val="FFFFFF"/>
                    </a:solidFill>
                  </a:tcPr>
                </a:tc>
              </a:tr>
              <a:tr h="48006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Services (CX rollup)</a:t>
                      </a:r>
                    </a:p>
                  </a:txBody>
                  <a:tcPr marL="60000" marR="60000" marT="40000" marB="40000" anchor="ctr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$0.00</a:t>
                      </a:r>
                    </a:p>
                  </a:txBody>
                  <a:tcPr marL="60000" marR="60000" marT="40000" marB="40000" anchor="ctr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$1,602,761.76</a:t>
                      </a:r>
                    </a:p>
                  </a:txBody>
                  <a:tcPr marL="60000" marR="60000" marT="40000" marB="40000" anchor="ctr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$1,602,761.76</a:t>
                      </a:r>
                    </a:p>
                  </a:txBody>
                  <a:tcPr marL="60000" marR="60000" marT="40000" marB="40000" anchor="ctr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$2,948,542.56</a:t>
                      </a:r>
                    </a:p>
                  </a:txBody>
                  <a:tcPr marL="60000" marR="60000" marT="40000" marB="40000" anchor="ctr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$883,601.88</a:t>
                      </a:r>
                    </a:p>
                  </a:txBody>
                  <a:tcPr marL="60000" marR="60000" marT="40000" marB="40000" anchor="ctr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$462,179.16</a:t>
                      </a:r>
                    </a:p>
                  </a:txBody>
                  <a:tcPr marL="60000" marR="60000" marT="40000" marB="40000" anchor="ctr">
                    <a:solidFill>
                      <a:srgbClr val="EEF3F8"/>
                    </a:solidFill>
                  </a:tcPr>
                </a:tc>
              </a:tr>
              <a:tr h="480060">
                <a:tc>
                  <a:txBody>
                    <a:bodyPr wrap="square"/>
                    <a:lstStyle/>
                    <a:p>
                      <a:pPr algn="l">
                        <a:defRPr b="1"/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TOTAL</a:t>
                      </a:r>
                    </a:p>
                  </a:txBody>
                  <a:tcPr marL="60000" marR="60000" marT="40000" marB="40000" anchor="ctr">
                    <a:solidFill>
                      <a:srgbClr val="052B4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b="1"/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$1,543,828.20</a:t>
                      </a:r>
                    </a:p>
                  </a:txBody>
                  <a:tcPr marL="60000" marR="60000" marT="40000" marB="40000" anchor="ctr">
                    <a:solidFill>
                      <a:srgbClr val="052B4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b="1"/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$1,602,761.76</a:t>
                      </a:r>
                    </a:p>
                  </a:txBody>
                  <a:tcPr marL="60000" marR="60000" marT="40000" marB="40000" anchor="ctr">
                    <a:solidFill>
                      <a:srgbClr val="052B4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b="1"/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$3,146,589.96</a:t>
                      </a:r>
                    </a:p>
                  </a:txBody>
                  <a:tcPr marL="60000" marR="60000" marT="40000" marB="40000" anchor="ctr">
                    <a:solidFill>
                      <a:srgbClr val="052B4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b="1"/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$6,987,825.78</a:t>
                      </a:r>
                    </a:p>
                  </a:txBody>
                  <a:tcPr marL="60000" marR="60000" marT="40000" marB="40000" anchor="ctr">
                    <a:solidFill>
                      <a:srgbClr val="052B4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b="1"/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$3,366,176.10</a:t>
                      </a:r>
                    </a:p>
                  </a:txBody>
                  <a:tcPr marL="60000" marR="60000" marT="40000" marB="40000" anchor="ctr">
                    <a:solidFill>
                      <a:srgbClr val="052B4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b="1"/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$475,059.96</a:t>
                      </a:r>
                    </a:p>
                  </a:txBody>
                  <a:tcPr marL="60000" marR="60000" marT="40000" marB="40000" anchor="ctr">
                    <a:solidFill>
                      <a:srgbClr val="052B4E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65760" y="4343400"/>
            <a:ext cx="114300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5A6472"/>
                </a:solidFill>
                <a:latin typeface="Calibri"/>
              </a:rPr>
              <a:t>* Proposal Summary shows CX under the Services row. Portfolio sheets break those services out: Networking CX $1,127,847  ·  Security CX $115,233  ·  Collaboration CX $359,682.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4754880"/>
            <a:ext cx="370332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4892040"/>
            <a:ext cx="333756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>
                <a:solidFill>
                  <a:srgbClr val="5A6472"/>
                </a:solidFill>
                <a:latin typeface="Calibri"/>
              </a:rPr>
              <a:t>EFFECTIVE DISCOUNT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5138928"/>
            <a:ext cx="333756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600" b="1">
                <a:solidFill>
                  <a:srgbClr val="052B4E"/>
                </a:solidFill>
                <a:latin typeface="Calibri"/>
              </a:rPr>
              <a:t>54.97%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5650992"/>
            <a:ext cx="333756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5A6472"/>
                </a:solidFill>
                <a:latin typeface="Calibri"/>
              </a:rPr>
              <a:t>List $6.99M → net $3.15M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51960" y="4754880"/>
            <a:ext cx="370332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34840" y="4892040"/>
            <a:ext cx="333756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>
                <a:solidFill>
                  <a:srgbClr val="5A6472"/>
                </a:solidFill>
                <a:latin typeface="Calibri"/>
              </a:rPr>
              <a:t>SOFTWARE MIX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34840" y="5138928"/>
            <a:ext cx="333756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600" b="1">
                <a:solidFill>
                  <a:srgbClr val="052B4E"/>
                </a:solidFill>
                <a:latin typeface="Calibri"/>
              </a:rPr>
              <a:t>49 / 51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34840" y="5650992"/>
            <a:ext cx="333756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5A6472"/>
                </a:solidFill>
                <a:latin typeface="Calibri"/>
              </a:rPr>
              <a:t>Software $1.54M  ·  CX $1.60M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38160" y="4754880"/>
            <a:ext cx="370332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21040" y="4892040"/>
            <a:ext cx="333756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>
                <a:solidFill>
                  <a:srgbClr val="5A6472"/>
                </a:solidFill>
                <a:latin typeface="Calibri"/>
              </a:rPr>
              <a:t>LARGEST LEVER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21040" y="5138928"/>
            <a:ext cx="333756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600" b="1">
                <a:solidFill>
                  <a:srgbClr val="052B4E"/>
                </a:solidFill>
                <a:latin typeface="Calibri"/>
              </a:rPr>
              <a:t>Networking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21040" y="5650992"/>
            <a:ext cx="333756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5A6472"/>
                </a:solidFill>
                <a:latin typeface="Calibri"/>
              </a:rPr>
              <a:t>Catalyst + Nexus + Meraki + CX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5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20040" y="6656832"/>
            <a:ext cx="7772400" cy="20116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900" b="0">
                <a:solidFill>
                  <a:srgbClr val="FFFFFF"/>
                </a:solidFill>
                <a:latin typeface="Calibri"/>
              </a:rPr>
              <a:t>CISCO CONFIDENTIAL  |  Indicative pricing as of 08-Sep-2026  |  Not an approved Cisco quote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92640" y="6656832"/>
            <a:ext cx="2194560" cy="20116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900" b="0">
                <a:solidFill>
                  <a:srgbClr val="FFFFFF"/>
                </a:solidFill>
                <a:latin typeface="Calibri"/>
              </a:rPr>
              <a:t>Hallmark CX EA  ·  6 / 18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05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1078992"/>
          </a:xfrm>
          <a:prstGeom prst="rect">
            <a:avLst/>
          </a:prstGeom>
          <a:solidFill>
            <a:srgbClr val="C4A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09728"/>
            <a:ext cx="1133856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>
                <a:solidFill>
                  <a:srgbClr val="C4A35A"/>
                </a:solidFill>
                <a:latin typeface="Calibri"/>
              </a:rPr>
              <a:t>WHERE THE INVESTMENT GOES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29184"/>
            <a:ext cx="1133856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Net TCV by portfolio (software + attached CX)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713232"/>
            <a:ext cx="1133856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00BCEB"/>
                </a:solidFill>
                <a:latin typeface="Calibri"/>
              </a:rPr>
              <a:t>CX from each portfolio sheet is shown with its parent technology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1280160"/>
            <a:ext cx="109728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5A6472"/>
                </a:solidFill>
                <a:latin typeface="Calibri"/>
              </a:rPr>
              <a:t>Relative scale of 3-year net contract value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645920"/>
            <a:ext cx="2148840" cy="7772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400" b="1">
                <a:solidFill>
                  <a:srgbClr val="052B4E"/>
                </a:solidFill>
                <a:latin typeface="Calibri"/>
              </a:rPr>
              <a:t>Networking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651760" y="1755648"/>
            <a:ext cx="5392918" cy="438912"/>
          </a:xfrm>
          <a:prstGeom prst="roundRect">
            <a:avLst>
              <a:gd name="adj" fmla="val 8000"/>
            </a:avLst>
          </a:prstGeom>
          <a:solidFill>
            <a:srgbClr val="052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54406" y="1645920"/>
            <a:ext cx="2194560" cy="43891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600" b="1">
                <a:solidFill>
                  <a:srgbClr val="052B4E"/>
                </a:solidFill>
                <a:latin typeface="Calibri"/>
              </a:rPr>
              <a:t>$2.16M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51760" y="2176272"/>
            <a:ext cx="77724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5A6472"/>
                </a:solidFill>
                <a:latin typeface="Calibri"/>
              </a:rPr>
              <a:t>Software $1.03M  ·  CX $1.13M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2697480"/>
            <a:ext cx="2148840" cy="7772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400" b="1">
                <a:solidFill>
                  <a:srgbClr val="052B4E"/>
                </a:solidFill>
                <a:latin typeface="Calibri"/>
              </a:rPr>
              <a:t>Collaboration CX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651760" y="2807208"/>
            <a:ext cx="898903" cy="438912"/>
          </a:xfrm>
          <a:prstGeom prst="roundRect">
            <a:avLst>
              <a:gd name="adj" fmla="val 8000"/>
            </a:avLst>
          </a:prstGeom>
          <a:solidFill>
            <a:srgbClr val="049F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60391" y="2697480"/>
            <a:ext cx="2194560" cy="43891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600" b="1">
                <a:solidFill>
                  <a:srgbClr val="052B4E"/>
                </a:solidFill>
                <a:latin typeface="Calibri"/>
              </a:rPr>
              <a:t>$360K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51760" y="3227832"/>
            <a:ext cx="77724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5A6472"/>
                </a:solidFill>
                <a:latin typeface="Calibri"/>
              </a:rPr>
              <a:t>Support only  ·  no new collab SW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" y="3749040"/>
            <a:ext cx="2148840" cy="7772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400" b="1">
                <a:solidFill>
                  <a:srgbClr val="052B4E"/>
                </a:solidFill>
                <a:latin typeface="Calibri"/>
              </a:rPr>
              <a:t>Applications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651760" y="3858768"/>
            <a:ext cx="1092279" cy="438912"/>
          </a:xfrm>
          <a:prstGeom prst="roundRect">
            <a:avLst>
              <a:gd name="adj" fmla="val 8000"/>
            </a:avLst>
          </a:prstGeom>
          <a:solidFill>
            <a:srgbClr val="00B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853767" y="3749040"/>
            <a:ext cx="2194560" cy="43891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600" b="1">
                <a:solidFill>
                  <a:srgbClr val="052B4E"/>
                </a:solidFill>
                <a:latin typeface="Calibri"/>
              </a:rPr>
              <a:t>$437K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651760" y="4279392"/>
            <a:ext cx="77724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5A6472"/>
                </a:solidFill>
                <a:latin typeface="Calibri"/>
              </a:rPr>
              <a:t>Splunk + ThousandEyes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" y="4800599"/>
            <a:ext cx="2148840" cy="7772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400" b="1">
                <a:solidFill>
                  <a:srgbClr val="052B4E"/>
                </a:solidFill>
                <a:latin typeface="Calibri"/>
              </a:rPr>
              <a:t>Security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651760" y="4910327"/>
            <a:ext cx="479739" cy="438912"/>
          </a:xfrm>
          <a:prstGeom prst="roundRect">
            <a:avLst>
              <a:gd name="adj" fmla="val 8000"/>
            </a:avLst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241227" y="4800599"/>
            <a:ext cx="2194560" cy="43891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600" b="1">
                <a:solidFill>
                  <a:srgbClr val="052B4E"/>
                </a:solidFill>
                <a:latin typeface="Calibri"/>
              </a:rPr>
              <a:t>$192K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51760" y="5330951"/>
            <a:ext cx="77724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5A6472"/>
                </a:solidFill>
                <a:latin typeface="Calibri"/>
              </a:rPr>
              <a:t>ISE software  ·  + ISE CX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646920" y="1645920"/>
            <a:ext cx="2194560" cy="4297680"/>
          </a:xfrm>
          <a:prstGeom prst="roundRect">
            <a:avLst>
              <a:gd name="adj" fmla="val 8000"/>
            </a:avLst>
          </a:prstGeom>
          <a:solidFill>
            <a:srgbClr val="052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784080" y="1920240"/>
            <a:ext cx="192024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>
                <a:solidFill>
                  <a:srgbClr val="C4A35A"/>
                </a:solidFill>
                <a:latin typeface="Calibri"/>
              </a:rPr>
              <a:t>NET TCV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784080" y="2240280"/>
            <a:ext cx="1920240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$3.15M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784080" y="3154680"/>
            <a:ext cx="1920240" cy="23774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00BCEB"/>
                </a:solidFill>
                <a:latin typeface="Calibri"/>
              </a:rPr>
              <a:t>Networking  69%
Collab CX  11%
Applications  14%
Security  6%</a:t>
            </a:r>
          </a:p>
        </p:txBody>
      </p:sp>
      <p:sp>
        <p:nvSpPr>
          <p:cNvPr id="29" name="Rectangle 28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5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20040" y="6656832"/>
            <a:ext cx="7772400" cy="20116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900" b="0">
                <a:solidFill>
                  <a:srgbClr val="FFFFFF"/>
                </a:solidFill>
                <a:latin typeface="Calibri"/>
              </a:rPr>
              <a:t>CISCO CONFIDENTIAL  |  Indicative pricing as of 08-Sep-2026  |  Not an approved Cisco quote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92640" y="6656832"/>
            <a:ext cx="2194560" cy="20116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900" b="0">
                <a:solidFill>
                  <a:srgbClr val="FFFFFF"/>
                </a:solidFill>
                <a:latin typeface="Calibri"/>
              </a:rPr>
              <a:t>Hallmark CX EA  ·  7 / 18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05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1078992"/>
          </a:xfrm>
          <a:prstGeom prst="rect">
            <a:avLst/>
          </a:prstGeom>
          <a:solidFill>
            <a:srgbClr val="C4A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09728"/>
            <a:ext cx="1133856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>
                <a:solidFill>
                  <a:srgbClr val="C4A35A"/>
                </a:solidFill>
                <a:latin typeface="Calibri"/>
              </a:rPr>
              <a:t>NETWORKING INFRASTRUCTURE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29184"/>
            <a:ext cx="1133856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Campus, data center, Meraki, and Spaces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713232"/>
            <a:ext cx="1133856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00BCEB"/>
                </a:solidFill>
                <a:latin typeface="Calibri"/>
              </a:rPr>
              <a:t>Software TCV $1,030,044  ·  CX TCV $1,127,847  ·  36 months  ·  Full commitment unless noted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298448"/>
          <a:ext cx="11521439" cy="50292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246120"/>
                <a:gridCol w="1097280"/>
                <a:gridCol w="3977639"/>
                <a:gridCol w="1051560"/>
                <a:gridCol w="2148840"/>
              </a:tblGrid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SUITE</a:t>
                      </a:r>
                    </a:p>
                  </a:txBody>
                  <a:tcPr marL="60000" marR="60000" marT="40000" marB="40000" anchor="ctr">
                    <a:solidFill>
                      <a:srgbClr val="052B4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COMMIT</a:t>
                      </a:r>
                    </a:p>
                  </a:txBody>
                  <a:tcPr marL="60000" marR="60000" marT="40000" marB="40000" anchor="ctr">
                    <a:solidFill>
                      <a:srgbClr val="052B4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KEY ENTITLEMENT</a:t>
                      </a:r>
                    </a:p>
                  </a:txBody>
                  <a:tcPr marL="60000" marR="60000" marT="40000" marB="40000" anchor="ctr">
                    <a:solidFill>
                      <a:srgbClr val="052B4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QTY</a:t>
                      </a:r>
                    </a:p>
                  </a:txBody>
                  <a:tcPr marL="60000" marR="60000" marT="40000" marB="40000" anchor="ctr">
                    <a:solidFill>
                      <a:srgbClr val="052B4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SW TCV</a:t>
                      </a:r>
                    </a:p>
                  </a:txBody>
                  <a:tcPr marL="60000" marR="60000" marT="40000" marB="40000" anchor="ctr">
                    <a:solidFill>
                      <a:srgbClr val="052B4E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Meraki – Network Infrastructure</a:t>
                      </a:r>
                    </a:p>
                  </a:txBody>
                  <a:tcPr marL="60000" marR="60000" marT="40000" marB="4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Full</a:t>
                      </a:r>
                    </a:p>
                  </a:txBody>
                  <a:tcPr marL="60000" marR="60000" marT="40000" marB="4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MX XL Essentials, MR, MS100/MS300</a:t>
                      </a:r>
                    </a:p>
                  </a:txBody>
                  <a:tcPr marL="60000" marR="60000" marT="40000" marB="4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216</a:t>
                      </a:r>
                    </a:p>
                  </a:txBody>
                  <a:tcPr marL="60000" marR="60000" marT="40000" marB="4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$45,702</a:t>
                      </a:r>
                    </a:p>
                  </a:txBody>
                  <a:tcPr marL="60000" marR="60000" marT="40000" marB="40000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Meraki – Camera Systems</a:t>
                      </a:r>
                    </a:p>
                  </a:txBody>
                  <a:tcPr marL="60000" marR="60000" marT="40000" marB="40000" anchor="ctr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Partial</a:t>
                      </a:r>
                    </a:p>
                  </a:txBody>
                  <a:tcPr marL="60000" marR="60000" marT="40000" marB="40000" anchor="ctr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MV Large Essentials</a:t>
                      </a:r>
                    </a:p>
                  </a:txBody>
                  <a:tcPr marL="60000" marR="60000" marT="40000" marB="40000" anchor="ctr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60000" marR="60000" marT="40000" marB="40000" anchor="ctr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$415</a:t>
                      </a:r>
                    </a:p>
                  </a:txBody>
                  <a:tcPr marL="60000" marR="60000" marT="40000" marB="40000" anchor="ctr">
                    <a:solidFill>
                      <a:srgbClr val="EEF3F8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Cisco Networking Wireless</a:t>
                      </a:r>
                    </a:p>
                  </a:txBody>
                  <a:tcPr marL="60000" marR="60000" marT="40000" marB="4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Full</a:t>
                      </a:r>
                    </a:p>
                  </a:txBody>
                  <a:tcPr marL="60000" marR="60000" marT="40000" marB="4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CW Advantage + Essential</a:t>
                      </a:r>
                    </a:p>
                  </a:txBody>
                  <a:tcPr marL="60000" marR="60000" marT="40000" marB="4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60000" marR="60000" marT="40000" marB="4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$380</a:t>
                      </a:r>
                    </a:p>
                  </a:txBody>
                  <a:tcPr marL="60000" marR="60000" marT="40000" marB="40000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Cisco Networking Switching</a:t>
                      </a:r>
                    </a:p>
                  </a:txBody>
                  <a:tcPr marL="60000" marR="60000" marT="40000" marB="40000" anchor="ctr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Full</a:t>
                      </a:r>
                    </a:p>
                  </a:txBody>
                  <a:tcPr marL="60000" marR="60000" marT="40000" marB="40000" anchor="ctr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Access T1 Large/Medium Essential</a:t>
                      </a:r>
                    </a:p>
                  </a:txBody>
                  <a:tcPr marL="60000" marR="60000" marT="40000" marB="40000" anchor="ctr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91</a:t>
                      </a:r>
                    </a:p>
                  </a:txBody>
                  <a:tcPr marL="60000" marR="60000" marT="40000" marB="40000" anchor="ctr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$57,330</a:t>
                      </a:r>
                    </a:p>
                  </a:txBody>
                  <a:tcPr marL="60000" marR="60000" marT="40000" marB="40000" anchor="ctr">
                    <a:solidFill>
                      <a:srgbClr val="EEF3F8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Nexus Switching</a:t>
                      </a:r>
                    </a:p>
                  </a:txBody>
                  <a:tcPr marL="60000" marR="60000" marT="40000" marB="4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Full</a:t>
                      </a:r>
                    </a:p>
                  </a:txBody>
                  <a:tcPr marL="60000" marR="60000" marT="40000" marB="4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N9300 XF/XF2 Advantage + Essential</a:t>
                      </a:r>
                    </a:p>
                  </a:txBody>
                  <a:tcPr marL="60000" marR="60000" marT="40000" marB="4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36</a:t>
                      </a:r>
                    </a:p>
                  </a:txBody>
                  <a:tcPr marL="60000" marR="60000" marT="40000" marB="4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$304,670</a:t>
                      </a:r>
                    </a:p>
                  </a:txBody>
                  <a:tcPr marL="60000" marR="60000" marT="40000" marB="40000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Cisco Spaces (wireless add-on)</a:t>
                      </a:r>
                    </a:p>
                  </a:txBody>
                  <a:tcPr marL="60000" marR="60000" marT="40000" marB="40000" anchor="ctr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Partial</a:t>
                      </a:r>
                    </a:p>
                  </a:txBody>
                  <a:tcPr marL="60000" marR="60000" marT="40000" marB="40000" anchor="ctr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Spaces ACT subscription</a:t>
                      </a:r>
                    </a:p>
                  </a:txBody>
                  <a:tcPr marL="60000" marR="60000" marT="40000" marB="40000" anchor="ctr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350</a:t>
                      </a:r>
                    </a:p>
                  </a:txBody>
                  <a:tcPr marL="60000" marR="60000" marT="40000" marB="40000" anchor="ctr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$64,638</a:t>
                      </a:r>
                    </a:p>
                  </a:txBody>
                  <a:tcPr marL="60000" marR="60000" marT="40000" marB="40000" anchor="ctr">
                    <a:solidFill>
                      <a:srgbClr val="EEF3F8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Cisco DNA Switching</a:t>
                      </a:r>
                    </a:p>
                  </a:txBody>
                  <a:tcPr marL="60000" marR="60000" marT="40000" marB="4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Full</a:t>
                      </a:r>
                    </a:p>
                  </a:txBody>
                  <a:tcPr marL="60000" marR="60000" marT="40000" marB="4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C3850/C9300/C9500/C9200 DNA</a:t>
                      </a:r>
                    </a:p>
                  </a:txBody>
                  <a:tcPr marL="60000" marR="60000" marT="40000" marB="4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298</a:t>
                      </a:r>
                    </a:p>
                  </a:txBody>
                  <a:tcPr marL="60000" marR="60000" marT="40000" marB="4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$449,547</a:t>
                      </a:r>
                    </a:p>
                  </a:txBody>
                  <a:tcPr marL="60000" marR="60000" marT="40000" marB="40000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Cisco DNA Wireless</a:t>
                      </a:r>
                    </a:p>
                  </a:txBody>
                  <a:tcPr marL="60000" marR="60000" marT="40000" marB="40000" anchor="ctr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Full</a:t>
                      </a:r>
                    </a:p>
                  </a:txBody>
                  <a:tcPr marL="60000" marR="60000" marT="40000" marB="40000" anchor="ctr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DNA Wireless Advantage</a:t>
                      </a:r>
                    </a:p>
                  </a:txBody>
                  <a:tcPr marL="60000" marR="60000" marT="40000" marB="40000" anchor="ctr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525</a:t>
                      </a:r>
                    </a:p>
                  </a:txBody>
                  <a:tcPr marL="60000" marR="60000" marT="40000" marB="40000" anchor="ctr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$107,361</a:t>
                      </a:r>
                    </a:p>
                  </a:txBody>
                  <a:tcPr marL="60000" marR="60000" marT="40000" marB="40000" anchor="ctr">
                    <a:solidFill>
                      <a:srgbClr val="EEF3F8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>
                        <a:defRPr b="1"/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TOTAL SOFTWARE</a:t>
                      </a:r>
                    </a:p>
                  </a:txBody>
                  <a:tcPr marL="60000" marR="60000" marT="40000" marB="40000" anchor="ctr">
                    <a:solidFill>
                      <a:srgbClr val="052B4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b="1"/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60000" marR="60000" marT="40000" marB="40000" anchor="ctr">
                    <a:solidFill>
                      <a:srgbClr val="052B4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b="1"/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60000" marR="60000" marT="40000" marB="40000" anchor="ctr">
                    <a:solidFill>
                      <a:srgbClr val="052B4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b="1"/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60000" marR="60000" marT="40000" marB="40000" anchor="ctr">
                    <a:solidFill>
                      <a:srgbClr val="052B4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b="1"/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$1,030,044</a:t>
                      </a:r>
                    </a:p>
                  </a:txBody>
                  <a:tcPr marL="60000" marR="60000" marT="40000" marB="40000" anchor="ctr">
                    <a:solidFill>
                      <a:srgbClr val="052B4E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5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40" y="6656832"/>
            <a:ext cx="7772400" cy="20116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900" b="0">
                <a:solidFill>
                  <a:srgbClr val="FFFFFF"/>
                </a:solidFill>
                <a:latin typeface="Calibri"/>
              </a:rPr>
              <a:t>CISCO CONFIDENTIAL  |  Indicative pricing as of 08-Sep-2026  |  Not an approved Cisco quote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92640" y="6656832"/>
            <a:ext cx="2194560" cy="20116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900" b="0">
                <a:solidFill>
                  <a:srgbClr val="FFFFFF"/>
                </a:solidFill>
                <a:latin typeface="Calibri"/>
              </a:rPr>
              <a:t>Hallmark CX EA  ·  8 / 18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05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1078992"/>
          </a:xfrm>
          <a:prstGeom prst="rect">
            <a:avLst/>
          </a:prstGeom>
          <a:solidFill>
            <a:srgbClr val="C4A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09728"/>
            <a:ext cx="1133856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>
                <a:solidFill>
                  <a:srgbClr val="C4A35A"/>
                </a:solidFill>
                <a:latin typeface="Calibri"/>
              </a:rPr>
              <a:t>NETWORKING SOFTWARE — DETAIL 1 OF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29184"/>
            <a:ext cx="1133856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Meraki, Catalyst Networking, and Nexus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713232"/>
            <a:ext cx="1133856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00BCEB"/>
                </a:solidFill>
                <a:latin typeface="Calibri"/>
              </a:rPr>
              <a:t>Qty Found = installed base  ·  Qty Desired = EA quantity  ·  68% subscription discount on most PIDs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274320" y="1280160"/>
          <a:ext cx="10698480" cy="507492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240280"/>
                <a:gridCol w="4160520"/>
                <a:gridCol w="1051560"/>
                <a:gridCol w="777240"/>
                <a:gridCol w="868680"/>
                <a:gridCol w="1600200"/>
              </a:tblGrid>
              <a:tr h="390378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PID</a:t>
                      </a:r>
                    </a:p>
                  </a:txBody>
                  <a:tcPr marL="60000" marR="60000" marT="40000" marB="40000" anchor="ctr">
                    <a:solidFill>
                      <a:srgbClr val="052B4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DESCRIPTION</a:t>
                      </a:r>
                    </a:p>
                  </a:txBody>
                  <a:tcPr marL="60000" marR="60000" marT="40000" marB="40000" anchor="ctr">
                    <a:solidFill>
                      <a:srgbClr val="052B4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TIER</a:t>
                      </a:r>
                    </a:p>
                  </a:txBody>
                  <a:tcPr marL="60000" marR="60000" marT="40000" marB="40000" anchor="ctr">
                    <a:solidFill>
                      <a:srgbClr val="052B4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IB</a:t>
                      </a:r>
                    </a:p>
                  </a:txBody>
                  <a:tcPr marL="60000" marR="60000" marT="40000" marB="40000" anchor="ctr">
                    <a:solidFill>
                      <a:srgbClr val="052B4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QTY</a:t>
                      </a:r>
                    </a:p>
                  </a:txBody>
                  <a:tcPr marL="60000" marR="60000" marT="40000" marB="40000" anchor="ctr">
                    <a:solidFill>
                      <a:srgbClr val="052B4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NET TCV</a:t>
                      </a:r>
                    </a:p>
                  </a:txBody>
                  <a:tcPr marL="60000" marR="60000" marT="40000" marB="40000" anchor="ctr">
                    <a:solidFill>
                      <a:srgbClr val="052B4E"/>
                    </a:solidFill>
                  </a:tcPr>
                </a:tc>
              </a:tr>
              <a:tr h="390378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E3N-MX-XL-E</a:t>
                      </a:r>
                    </a:p>
                  </a:txBody>
                  <a:tcPr marL="60000" marR="60000" marT="40000" marB="4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Meraki MX X-Large Essentials</a:t>
                      </a:r>
                    </a:p>
                  </a:txBody>
                  <a:tcPr marL="60000" marR="60000" marT="40000" marB="4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60000" marR="60000" marT="40000" marB="4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60000" marR="60000" marT="40000" marB="4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60000" marR="60000" marT="40000" marB="4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$17,495</a:t>
                      </a:r>
                    </a:p>
                  </a:txBody>
                  <a:tcPr marL="60000" marR="60000" marT="40000" marB="40000" anchor="ctr">
                    <a:solidFill>
                      <a:srgbClr val="FFFFFF"/>
                    </a:solidFill>
                  </a:tcPr>
                </a:tc>
              </a:tr>
              <a:tr h="390378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E3N-MR-E</a:t>
                      </a:r>
                    </a:p>
                  </a:txBody>
                  <a:tcPr marL="60000" marR="60000" marT="40000" marB="40000" anchor="ctr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Meraki MR Essentials</a:t>
                      </a:r>
                    </a:p>
                  </a:txBody>
                  <a:tcPr marL="60000" marR="60000" marT="40000" marB="40000" anchor="ctr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60000" marR="60000" marT="40000" marB="40000" anchor="ctr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77</a:t>
                      </a:r>
                    </a:p>
                  </a:txBody>
                  <a:tcPr marL="60000" marR="60000" marT="40000" marB="40000" anchor="ctr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193</a:t>
                      </a:r>
                    </a:p>
                  </a:txBody>
                  <a:tcPr marL="60000" marR="60000" marT="40000" marB="40000" anchor="ctr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$23,345</a:t>
                      </a:r>
                    </a:p>
                  </a:txBody>
                  <a:tcPr marL="60000" marR="60000" marT="40000" marB="40000" anchor="ctr">
                    <a:solidFill>
                      <a:srgbClr val="EEF3F8"/>
                    </a:solidFill>
                  </a:tcPr>
                </a:tc>
              </a:tr>
              <a:tr h="390378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E3N-MS-100-S/M/L-E</a:t>
                      </a:r>
                    </a:p>
                  </a:txBody>
                  <a:tcPr marL="60000" marR="60000" marT="40000" marB="4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Meraki MS100 Small/Med/Large Essentials</a:t>
                      </a:r>
                    </a:p>
                  </a:txBody>
                  <a:tcPr marL="60000" marR="60000" marT="40000" marB="4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60000" marR="60000" marT="40000" marB="4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60000" marR="60000" marT="40000" marB="4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16</a:t>
                      </a:r>
                    </a:p>
                  </a:txBody>
                  <a:tcPr marL="60000" marR="60000" marT="40000" marB="4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$1,390</a:t>
                      </a:r>
                    </a:p>
                  </a:txBody>
                  <a:tcPr marL="60000" marR="60000" marT="40000" marB="40000" anchor="ctr">
                    <a:solidFill>
                      <a:srgbClr val="FFFFFF"/>
                    </a:solidFill>
                  </a:tcPr>
                </a:tc>
              </a:tr>
              <a:tr h="390378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E3N-MS-300-M/L-A</a:t>
                      </a:r>
                    </a:p>
                  </a:txBody>
                  <a:tcPr marL="60000" marR="60000" marT="40000" marB="40000" anchor="ctr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Meraki MS300 Medium/Large Advantage</a:t>
                      </a:r>
                    </a:p>
                  </a:txBody>
                  <a:tcPr marL="60000" marR="60000" marT="40000" marB="40000" anchor="ctr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Adv</a:t>
                      </a:r>
                    </a:p>
                  </a:txBody>
                  <a:tcPr marL="60000" marR="60000" marT="40000" marB="40000" anchor="ctr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60000" marR="60000" marT="40000" marB="40000" anchor="ctr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60000" marR="60000" marT="40000" marB="40000" anchor="ctr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$3,473</a:t>
                      </a:r>
                    </a:p>
                  </a:txBody>
                  <a:tcPr marL="60000" marR="60000" marT="40000" marB="40000" anchor="ctr">
                    <a:solidFill>
                      <a:srgbClr val="EEF3F8"/>
                    </a:solidFill>
                  </a:tcPr>
                </a:tc>
              </a:tr>
              <a:tr h="390378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E3N-MV-E</a:t>
                      </a:r>
                    </a:p>
                  </a:txBody>
                  <a:tcPr marL="60000" marR="60000" marT="40000" marB="4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Meraki MV Large Essentials</a:t>
                      </a:r>
                    </a:p>
                  </a:txBody>
                  <a:tcPr marL="60000" marR="60000" marT="40000" marB="4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60000" marR="60000" marT="40000" marB="4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60000" marR="60000" marT="40000" marB="4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60000" marR="60000" marT="40000" marB="4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$415</a:t>
                      </a:r>
                    </a:p>
                  </a:txBody>
                  <a:tcPr marL="60000" marR="60000" marT="40000" marB="40000" anchor="ctr">
                    <a:solidFill>
                      <a:srgbClr val="FFFFFF"/>
                    </a:solidFill>
                  </a:tcPr>
                </a:tc>
              </a:tr>
              <a:tr h="390378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E3N-CW-A / E3N-CW-E</a:t>
                      </a:r>
                    </a:p>
                  </a:txBody>
                  <a:tcPr marL="60000" marR="60000" marT="40000" marB="40000" anchor="ctr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Cisco Networking Wireless</a:t>
                      </a:r>
                    </a:p>
                  </a:txBody>
                  <a:tcPr marL="60000" marR="60000" marT="40000" marB="40000" anchor="ctr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Adv/Ess</a:t>
                      </a:r>
                    </a:p>
                  </a:txBody>
                  <a:tcPr marL="60000" marR="60000" marT="40000" marB="40000" anchor="ctr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60000" marR="60000" marT="40000" marB="40000" anchor="ctr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60000" marR="60000" marT="40000" marB="40000" anchor="ctr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$380</a:t>
                      </a:r>
                    </a:p>
                  </a:txBody>
                  <a:tcPr marL="60000" marR="60000" marT="40000" marB="40000" anchor="ctr">
                    <a:solidFill>
                      <a:srgbClr val="EEF3F8"/>
                    </a:solidFill>
                  </a:tcPr>
                </a:tc>
              </a:tr>
              <a:tr h="390378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E3N-CS-AC1-L-E</a:t>
                      </a:r>
                    </a:p>
                  </a:txBody>
                  <a:tcPr marL="60000" marR="60000" marT="40000" marB="4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Switching Access T1 Large Essential</a:t>
                      </a:r>
                    </a:p>
                  </a:txBody>
                  <a:tcPr marL="60000" marR="60000" marT="40000" marB="4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Ess</a:t>
                      </a:r>
                    </a:p>
                  </a:txBody>
                  <a:tcPr marL="60000" marR="60000" marT="40000" marB="4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60000" marR="60000" marT="40000" marB="4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49</a:t>
                      </a:r>
                    </a:p>
                  </a:txBody>
                  <a:tcPr marL="60000" marR="60000" marT="40000" marB="4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$39,126</a:t>
                      </a:r>
                    </a:p>
                  </a:txBody>
                  <a:tcPr marL="60000" marR="60000" marT="40000" marB="40000" anchor="ctr">
                    <a:solidFill>
                      <a:srgbClr val="FFFFFF"/>
                    </a:solidFill>
                  </a:tcPr>
                </a:tc>
              </a:tr>
              <a:tr h="390378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E3N-CS-AC1-M-E</a:t>
                      </a:r>
                    </a:p>
                  </a:txBody>
                  <a:tcPr marL="60000" marR="60000" marT="40000" marB="40000" anchor="ctr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Switching Access T1 Medium Essential</a:t>
                      </a:r>
                    </a:p>
                  </a:txBody>
                  <a:tcPr marL="60000" marR="60000" marT="40000" marB="40000" anchor="ctr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Ess</a:t>
                      </a:r>
                    </a:p>
                  </a:txBody>
                  <a:tcPr marL="60000" marR="60000" marT="40000" marB="40000" anchor="ctr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60000" marR="60000" marT="40000" marB="40000" anchor="ctr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42</a:t>
                      </a:r>
                    </a:p>
                  </a:txBody>
                  <a:tcPr marL="60000" marR="60000" marT="40000" marB="40000" anchor="ctr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$18,204</a:t>
                      </a:r>
                    </a:p>
                  </a:txBody>
                  <a:tcPr marL="60000" marR="60000" marT="40000" marB="40000" anchor="ctr">
                    <a:solidFill>
                      <a:srgbClr val="EEF3F8"/>
                    </a:solidFill>
                  </a:tcPr>
                </a:tc>
              </a:tr>
              <a:tr h="390378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E3N-N9300-XF2-A</a:t>
                      </a:r>
                    </a:p>
                  </a:txBody>
                  <a:tcPr marL="60000" marR="60000" marT="40000" marB="4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Nexus 9300 XF2 or higher (to 6.4T)</a:t>
                      </a:r>
                    </a:p>
                  </a:txBody>
                  <a:tcPr marL="60000" marR="60000" marT="40000" marB="4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Adv</a:t>
                      </a:r>
                    </a:p>
                  </a:txBody>
                  <a:tcPr marL="60000" marR="60000" marT="40000" marB="4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60000" marR="60000" marT="40000" marB="4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60000" marR="60000" marT="40000" marB="4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$35,440</a:t>
                      </a:r>
                    </a:p>
                  </a:txBody>
                  <a:tcPr marL="60000" marR="60000" marT="40000" marB="40000" anchor="ctr">
                    <a:solidFill>
                      <a:srgbClr val="FFFFFF"/>
                    </a:solidFill>
                  </a:tcPr>
                </a:tc>
              </a:tr>
              <a:tr h="390378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E3N-N9300-XF-A</a:t>
                      </a:r>
                    </a:p>
                  </a:txBody>
                  <a:tcPr marL="60000" marR="60000" marT="40000" marB="40000" anchor="ctr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Nexus 9300 XF 10G+ (to 3.6T)</a:t>
                      </a:r>
                    </a:p>
                  </a:txBody>
                  <a:tcPr marL="60000" marR="60000" marT="40000" marB="40000" anchor="ctr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Adv</a:t>
                      </a:r>
                    </a:p>
                  </a:txBody>
                  <a:tcPr marL="60000" marR="60000" marT="40000" marB="40000" anchor="ctr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22</a:t>
                      </a:r>
                    </a:p>
                  </a:txBody>
                  <a:tcPr marL="60000" marR="60000" marT="40000" marB="40000" anchor="ctr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30</a:t>
                      </a:r>
                    </a:p>
                  </a:txBody>
                  <a:tcPr marL="60000" marR="60000" marT="40000" marB="40000" anchor="ctr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$243,119</a:t>
                      </a:r>
                    </a:p>
                  </a:txBody>
                  <a:tcPr marL="60000" marR="60000" marT="40000" marB="40000" anchor="ctr">
                    <a:solidFill>
                      <a:srgbClr val="EEF3F8"/>
                    </a:solidFill>
                  </a:tcPr>
                </a:tc>
              </a:tr>
              <a:tr h="390378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E3N-N9300-XF-E</a:t>
                      </a:r>
                    </a:p>
                  </a:txBody>
                  <a:tcPr marL="60000" marR="60000" marT="40000" marB="4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Nexus 9300 XF 10G+ (to 3.6T)</a:t>
                      </a:r>
                    </a:p>
                  </a:txBody>
                  <a:tcPr marL="60000" marR="60000" marT="40000" marB="4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Ess</a:t>
                      </a:r>
                    </a:p>
                  </a:txBody>
                  <a:tcPr marL="60000" marR="60000" marT="40000" marB="4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60000" marR="60000" marT="40000" marB="4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60000" marR="60000" marT="40000" marB="4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$26,112</a:t>
                      </a:r>
                    </a:p>
                  </a:txBody>
                  <a:tcPr marL="60000" marR="60000" marT="40000" marB="40000" anchor="ctr">
                    <a:solidFill>
                      <a:srgbClr val="FFFFFF"/>
                    </a:solidFill>
                  </a:tcPr>
                </a:tc>
              </a:tr>
              <a:tr h="390384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E3N-SPACES-ACT</a:t>
                      </a:r>
                    </a:p>
                  </a:txBody>
                  <a:tcPr marL="60000" marR="60000" marT="40000" marB="40000" anchor="ctr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Cisco Spaces ACT subscription</a:t>
                      </a:r>
                    </a:p>
                  </a:txBody>
                  <a:tcPr marL="60000" marR="60000" marT="40000" marB="40000" anchor="ctr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Add-on</a:t>
                      </a:r>
                    </a:p>
                  </a:txBody>
                  <a:tcPr marL="60000" marR="60000" marT="40000" marB="40000" anchor="ctr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60000" marR="60000" marT="40000" marB="40000" anchor="ctr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350</a:t>
                      </a:r>
                    </a:p>
                  </a:txBody>
                  <a:tcPr marL="60000" marR="60000" marT="40000" marB="40000" anchor="ctr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$64,638</a:t>
                      </a:r>
                    </a:p>
                  </a:txBody>
                  <a:tcPr marL="60000" marR="60000" marT="40000" marB="40000" anchor="ctr">
                    <a:solidFill>
                      <a:srgbClr val="EEF3F8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5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40" y="6656832"/>
            <a:ext cx="7772400" cy="20116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900" b="0">
                <a:solidFill>
                  <a:srgbClr val="FFFFFF"/>
                </a:solidFill>
                <a:latin typeface="Calibri"/>
              </a:rPr>
              <a:t>CISCO CONFIDENTIAL  |  Indicative pricing as of 08-Sep-2026  |  Not an approved Cisco quote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92640" y="6656832"/>
            <a:ext cx="2194560" cy="20116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900" b="0">
                <a:solidFill>
                  <a:srgbClr val="FFFFFF"/>
                </a:solidFill>
                <a:latin typeface="Calibri"/>
              </a:rPr>
              <a:t>Hallmark CX EA  ·  9 / 18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05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1078992"/>
          </a:xfrm>
          <a:prstGeom prst="rect">
            <a:avLst/>
          </a:prstGeom>
          <a:solidFill>
            <a:srgbClr val="C4A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09728"/>
            <a:ext cx="1133856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>
                <a:solidFill>
                  <a:srgbClr val="C4A35A"/>
                </a:solidFill>
                <a:latin typeface="Calibri"/>
              </a:rPr>
              <a:t>NETWORKING SOFTWARE — DETAIL 2 OF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29184"/>
            <a:ext cx="1133856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Cisco DNA Switching and Wireless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713232"/>
            <a:ext cx="1133856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00BCEB"/>
                </a:solidFill>
                <a:latin typeface="Calibri"/>
              </a:rPr>
              <a:t>Full-commitment DNA suites  ·  C3850 48-port Advantage is the single largest software PID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274320" y="1280160"/>
          <a:ext cx="10698480" cy="507492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240280"/>
                <a:gridCol w="4160520"/>
                <a:gridCol w="1051560"/>
                <a:gridCol w="777240"/>
                <a:gridCol w="868680"/>
                <a:gridCol w="1600200"/>
              </a:tblGrid>
              <a:tr h="362494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PID</a:t>
                      </a:r>
                    </a:p>
                  </a:txBody>
                  <a:tcPr marL="60000" marR="60000" marT="40000" marB="40000" anchor="ctr">
                    <a:solidFill>
                      <a:srgbClr val="052B4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DESCRIPTION</a:t>
                      </a:r>
                    </a:p>
                  </a:txBody>
                  <a:tcPr marL="60000" marR="60000" marT="40000" marB="40000" anchor="ctr">
                    <a:solidFill>
                      <a:srgbClr val="052B4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TIER</a:t>
                      </a:r>
                    </a:p>
                  </a:txBody>
                  <a:tcPr marL="60000" marR="60000" marT="40000" marB="40000" anchor="ctr">
                    <a:solidFill>
                      <a:srgbClr val="052B4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IB</a:t>
                      </a:r>
                    </a:p>
                  </a:txBody>
                  <a:tcPr marL="60000" marR="60000" marT="40000" marB="40000" anchor="ctr">
                    <a:solidFill>
                      <a:srgbClr val="052B4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QTY</a:t>
                      </a:r>
                    </a:p>
                  </a:txBody>
                  <a:tcPr marL="60000" marR="60000" marT="40000" marB="40000" anchor="ctr">
                    <a:solidFill>
                      <a:srgbClr val="052B4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NET TCV</a:t>
                      </a:r>
                    </a:p>
                  </a:txBody>
                  <a:tcPr marL="60000" marR="60000" marT="40000" marB="40000" anchor="ctr">
                    <a:solidFill>
                      <a:srgbClr val="052B4E"/>
                    </a:solidFill>
                  </a:tcPr>
                </a:tc>
              </a:tr>
              <a:tr h="362494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E3N-C38502-A</a:t>
                      </a:r>
                    </a:p>
                  </a:txBody>
                  <a:tcPr marL="60000" marR="60000" marT="40000" marB="4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C3850 48-Port DNA EA</a:t>
                      </a:r>
                    </a:p>
                  </a:txBody>
                  <a:tcPr marL="60000" marR="60000" marT="40000" marB="4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Adv</a:t>
                      </a:r>
                    </a:p>
                  </a:txBody>
                  <a:tcPr marL="60000" marR="60000" marT="40000" marB="4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60000" marR="60000" marT="40000" marB="4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218</a:t>
                      </a:r>
                    </a:p>
                  </a:txBody>
                  <a:tcPr marL="60000" marR="60000" marT="40000" marB="4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$306,464</a:t>
                      </a:r>
                    </a:p>
                  </a:txBody>
                  <a:tcPr marL="60000" marR="60000" marT="40000" marB="40000" anchor="ctr">
                    <a:solidFill>
                      <a:srgbClr val="FFFFFF"/>
                    </a:solidFill>
                  </a:tcPr>
                </a:tc>
              </a:tr>
              <a:tr h="362494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E3N-C95005-A</a:t>
                      </a:r>
                    </a:p>
                  </a:txBody>
                  <a:tcPr marL="60000" marR="60000" marT="40000" marB="40000" anchor="ctr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C9500 48Y4C DNA EA</a:t>
                      </a:r>
                    </a:p>
                  </a:txBody>
                  <a:tcPr marL="60000" marR="60000" marT="40000" marB="40000" anchor="ctr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Adv</a:t>
                      </a:r>
                    </a:p>
                  </a:txBody>
                  <a:tcPr marL="60000" marR="60000" marT="40000" marB="40000" anchor="ctr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43</a:t>
                      </a:r>
                    </a:p>
                  </a:txBody>
                  <a:tcPr marL="60000" marR="60000" marT="40000" marB="40000" anchor="ctr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16</a:t>
                      </a:r>
                    </a:p>
                  </a:txBody>
                  <a:tcPr marL="60000" marR="60000" marT="40000" marB="40000" anchor="ctr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$70,791</a:t>
                      </a:r>
                    </a:p>
                  </a:txBody>
                  <a:tcPr marL="60000" marR="60000" marT="40000" marB="40000" anchor="ctr">
                    <a:solidFill>
                      <a:srgbClr val="EEF3F8"/>
                    </a:solidFill>
                  </a:tcPr>
                </a:tc>
              </a:tr>
              <a:tr h="362494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E3N-C93002-A</a:t>
                      </a:r>
                    </a:p>
                  </a:txBody>
                  <a:tcPr marL="60000" marR="60000" marT="40000" marB="4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C9300/C9300X 48-Port DNA EA</a:t>
                      </a:r>
                    </a:p>
                  </a:txBody>
                  <a:tcPr marL="60000" marR="60000" marT="40000" marB="4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Adv</a:t>
                      </a:r>
                    </a:p>
                  </a:txBody>
                  <a:tcPr marL="60000" marR="60000" marT="40000" marB="4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43</a:t>
                      </a:r>
                    </a:p>
                  </a:txBody>
                  <a:tcPr marL="60000" marR="60000" marT="40000" marB="4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19</a:t>
                      </a:r>
                    </a:p>
                  </a:txBody>
                  <a:tcPr marL="60000" marR="60000" marT="40000" marB="4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$26,619</a:t>
                      </a:r>
                    </a:p>
                  </a:txBody>
                  <a:tcPr marL="60000" marR="60000" marT="40000" marB="40000" anchor="ctr">
                    <a:solidFill>
                      <a:srgbClr val="FFFFFF"/>
                    </a:solidFill>
                  </a:tcPr>
                </a:tc>
              </a:tr>
              <a:tr h="362494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E3N-C95003-A</a:t>
                      </a:r>
                    </a:p>
                  </a:txBody>
                  <a:tcPr marL="60000" marR="60000" marT="40000" marB="40000" anchor="ctr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C9500 32C DNA EA</a:t>
                      </a:r>
                    </a:p>
                  </a:txBody>
                  <a:tcPr marL="60000" marR="60000" marT="40000" marB="40000" anchor="ctr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Adv</a:t>
                      </a:r>
                    </a:p>
                  </a:txBody>
                  <a:tcPr marL="60000" marR="60000" marT="40000" marB="40000" anchor="ctr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60000" marR="60000" marT="40000" marB="40000" anchor="ctr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60000" marR="60000" marT="40000" marB="40000" anchor="ctr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$18,048</a:t>
                      </a:r>
                    </a:p>
                  </a:txBody>
                  <a:tcPr marL="60000" marR="60000" marT="40000" marB="40000" anchor="ctr">
                    <a:solidFill>
                      <a:srgbClr val="EEF3F8"/>
                    </a:solidFill>
                  </a:tcPr>
                </a:tc>
              </a:tr>
              <a:tr h="362494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E3N-C9200CX2-A</a:t>
                      </a:r>
                    </a:p>
                  </a:txBody>
                  <a:tcPr marL="60000" marR="60000" marT="40000" marB="4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C9200CX 12-Port DNA EA</a:t>
                      </a:r>
                    </a:p>
                  </a:txBody>
                  <a:tcPr marL="60000" marR="60000" marT="40000" marB="4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Adv</a:t>
                      </a:r>
                    </a:p>
                  </a:txBody>
                  <a:tcPr marL="60000" marR="60000" marT="40000" marB="4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24</a:t>
                      </a:r>
                    </a:p>
                  </a:txBody>
                  <a:tcPr marL="60000" marR="60000" marT="40000" marB="4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18</a:t>
                      </a:r>
                    </a:p>
                  </a:txBody>
                  <a:tcPr marL="60000" marR="60000" marT="40000" marB="4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$6,690</a:t>
                      </a:r>
                    </a:p>
                  </a:txBody>
                  <a:tcPr marL="60000" marR="60000" marT="40000" marB="40000" anchor="ctr">
                    <a:solidFill>
                      <a:srgbClr val="FFFFFF"/>
                    </a:solidFill>
                  </a:tcPr>
                </a:tc>
              </a:tr>
              <a:tr h="362494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E3N-C36502-A</a:t>
                      </a:r>
                    </a:p>
                  </a:txBody>
                  <a:tcPr marL="60000" marR="60000" marT="40000" marB="40000" anchor="ctr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C3650 48-Port DNA EA</a:t>
                      </a:r>
                    </a:p>
                  </a:txBody>
                  <a:tcPr marL="60000" marR="60000" marT="40000" marB="40000" anchor="ctr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Adv</a:t>
                      </a:r>
                    </a:p>
                  </a:txBody>
                  <a:tcPr marL="60000" marR="60000" marT="40000" marB="40000" anchor="ctr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60000" marR="60000" marT="40000" marB="40000" anchor="ctr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60000" marR="60000" marT="40000" marB="40000" anchor="ctr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$5,623</a:t>
                      </a:r>
                    </a:p>
                  </a:txBody>
                  <a:tcPr marL="60000" marR="60000" marT="40000" marB="40000" anchor="ctr">
                    <a:solidFill>
                      <a:srgbClr val="EEF3F8"/>
                    </a:solidFill>
                  </a:tcPr>
                </a:tc>
              </a:tr>
              <a:tr h="362494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E3N-C9300X2-A</a:t>
                      </a:r>
                    </a:p>
                  </a:txBody>
                  <a:tcPr marL="60000" marR="60000" marT="40000" marB="4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C9300X 24-Port DNA EA</a:t>
                      </a:r>
                    </a:p>
                  </a:txBody>
                  <a:tcPr marL="60000" marR="60000" marT="40000" marB="4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Adv</a:t>
                      </a:r>
                    </a:p>
                  </a:txBody>
                  <a:tcPr marL="60000" marR="60000" marT="40000" marB="4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marL="60000" marR="60000" marT="40000" marB="4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marL="60000" marR="60000" marT="40000" marB="4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$4,497</a:t>
                      </a:r>
                    </a:p>
                  </a:txBody>
                  <a:tcPr marL="60000" marR="60000" marT="40000" marB="40000" anchor="ctr">
                    <a:solidFill>
                      <a:srgbClr val="FFFFFF"/>
                    </a:solidFill>
                  </a:tcPr>
                </a:tc>
              </a:tr>
              <a:tr h="362494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E3N-C95002-A</a:t>
                      </a:r>
                    </a:p>
                  </a:txBody>
                  <a:tcPr marL="60000" marR="60000" marT="40000" marB="40000" anchor="ctr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C9500 Low Port (12Q/16X) DNA EA</a:t>
                      </a:r>
                    </a:p>
                  </a:txBody>
                  <a:tcPr marL="60000" marR="60000" marT="40000" marB="40000" anchor="ctr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Adv</a:t>
                      </a:r>
                    </a:p>
                  </a:txBody>
                  <a:tcPr marL="60000" marR="60000" marT="40000" marB="40000" anchor="ctr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60000" marR="60000" marT="40000" marB="40000" anchor="ctr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60000" marR="60000" marT="40000" marB="40000" anchor="ctr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$5,296</a:t>
                      </a:r>
                    </a:p>
                  </a:txBody>
                  <a:tcPr marL="60000" marR="60000" marT="40000" marB="40000" anchor="ctr">
                    <a:solidFill>
                      <a:srgbClr val="EEF3F8"/>
                    </a:solidFill>
                  </a:tcPr>
                </a:tc>
              </a:tr>
              <a:tr h="362494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E3N-C38501-A</a:t>
                      </a:r>
                    </a:p>
                  </a:txBody>
                  <a:tcPr marL="60000" marR="60000" marT="40000" marB="4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C3850 24-Port DNA EA</a:t>
                      </a:r>
                    </a:p>
                  </a:txBody>
                  <a:tcPr marL="60000" marR="60000" marT="40000" marB="4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Adv</a:t>
                      </a:r>
                    </a:p>
                  </a:txBody>
                  <a:tcPr marL="60000" marR="60000" marT="40000" marB="4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60000" marR="60000" marT="40000" marB="4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60000" marR="60000" marT="40000" marB="4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$2,249</a:t>
                      </a:r>
                    </a:p>
                  </a:txBody>
                  <a:tcPr marL="60000" marR="60000" marT="40000" marB="40000" anchor="ctr">
                    <a:solidFill>
                      <a:srgbClr val="FFFFFF"/>
                    </a:solidFill>
                  </a:tcPr>
                </a:tc>
              </a:tr>
              <a:tr h="362494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E3N-C95005-E</a:t>
                      </a:r>
                    </a:p>
                  </a:txBody>
                  <a:tcPr marL="60000" marR="60000" marT="40000" marB="40000" anchor="ctr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C9500 48Y4C DNA EA</a:t>
                      </a:r>
                    </a:p>
                  </a:txBody>
                  <a:tcPr marL="60000" marR="60000" marT="40000" marB="40000" anchor="ctr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Ess</a:t>
                      </a:r>
                    </a:p>
                  </a:txBody>
                  <a:tcPr marL="60000" marR="60000" marT="40000" marB="40000" anchor="ctr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60000" marR="60000" marT="40000" marB="40000" anchor="ctr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60000" marR="60000" marT="40000" marB="40000" anchor="ctr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$1,863</a:t>
                      </a:r>
                    </a:p>
                  </a:txBody>
                  <a:tcPr marL="60000" marR="60000" marT="40000" marB="40000" anchor="ctr">
                    <a:solidFill>
                      <a:srgbClr val="EEF3F8"/>
                    </a:solidFill>
                  </a:tcPr>
                </a:tc>
              </a:tr>
              <a:tr h="362494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E3N-C93001-A / others</a:t>
                      </a:r>
                    </a:p>
                  </a:txBody>
                  <a:tcPr marL="60000" marR="60000" marT="40000" marB="4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C9300 24 / C3560CX / C9200L 48</a:t>
                      </a:r>
                    </a:p>
                  </a:txBody>
                  <a:tcPr marL="60000" marR="60000" marT="40000" marB="4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Mix</a:t>
                      </a:r>
                    </a:p>
                  </a:txBody>
                  <a:tcPr marL="60000" marR="60000" marT="40000" marB="4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18</a:t>
                      </a:r>
                    </a:p>
                  </a:txBody>
                  <a:tcPr marL="60000" marR="60000" marT="40000" marB="4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 marL="60000" marR="60000" marT="40000" marB="4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$1,407</a:t>
                      </a:r>
                    </a:p>
                  </a:txBody>
                  <a:tcPr marL="60000" marR="60000" marT="40000" marB="40000" anchor="ctr">
                    <a:solidFill>
                      <a:srgbClr val="FFFFFF"/>
                    </a:solidFill>
                  </a:tcPr>
                </a:tc>
              </a:tr>
              <a:tr h="362494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E3N-AIRWLAN-A</a:t>
                      </a:r>
                    </a:p>
                  </a:txBody>
                  <a:tcPr marL="60000" marR="60000" marT="40000" marB="40000" anchor="ctr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Cisco DNA Wireless</a:t>
                      </a:r>
                    </a:p>
                  </a:txBody>
                  <a:tcPr marL="60000" marR="60000" marT="40000" marB="40000" anchor="ctr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Adv</a:t>
                      </a:r>
                    </a:p>
                  </a:txBody>
                  <a:tcPr marL="60000" marR="60000" marT="40000" marB="40000" anchor="ctr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132</a:t>
                      </a:r>
                    </a:p>
                  </a:txBody>
                  <a:tcPr marL="60000" marR="60000" marT="40000" marB="40000" anchor="ctr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525</a:t>
                      </a:r>
                    </a:p>
                  </a:txBody>
                  <a:tcPr marL="60000" marR="60000" marT="40000" marB="40000" anchor="ctr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$107,361</a:t>
                      </a:r>
                    </a:p>
                  </a:txBody>
                  <a:tcPr marL="60000" marR="60000" marT="40000" marB="40000" anchor="ctr">
                    <a:solidFill>
                      <a:srgbClr val="EEF3F8"/>
                    </a:solidFill>
                  </a:tcPr>
                </a:tc>
              </a:tr>
              <a:tr h="362498">
                <a:tc>
                  <a:txBody>
                    <a:bodyPr wrap="square"/>
                    <a:lstStyle/>
                    <a:p>
                      <a:pPr algn="l">
                        <a:defRPr b="1"/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TOTAL DNA + WIRELESS</a:t>
                      </a:r>
                    </a:p>
                  </a:txBody>
                  <a:tcPr marL="60000" marR="60000" marT="40000" marB="40000" anchor="ctr">
                    <a:solidFill>
                      <a:srgbClr val="052B4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b="1"/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60000" marR="60000" marT="40000" marB="40000" anchor="ctr">
                    <a:solidFill>
                      <a:srgbClr val="052B4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b="1"/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60000" marR="60000" marT="40000" marB="40000" anchor="ctr">
                    <a:solidFill>
                      <a:srgbClr val="052B4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b="1"/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60000" marR="60000" marT="40000" marB="40000" anchor="ctr">
                    <a:solidFill>
                      <a:srgbClr val="052B4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b="1"/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60000" marR="60000" marT="40000" marB="40000" anchor="ctr">
                    <a:solidFill>
                      <a:srgbClr val="052B4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b="1"/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$556,908</a:t>
                      </a:r>
                    </a:p>
                  </a:txBody>
                  <a:tcPr marL="60000" marR="60000" marT="40000" marB="40000" anchor="ctr">
                    <a:solidFill>
                      <a:srgbClr val="052B4E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5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40" y="6656832"/>
            <a:ext cx="7772400" cy="20116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900" b="0">
                <a:solidFill>
                  <a:srgbClr val="FFFFFF"/>
                </a:solidFill>
                <a:latin typeface="Calibri"/>
              </a:rPr>
              <a:t>CISCO CONFIDENTIAL  |  Indicative pricing as of 08-Sep-2026  |  Not an approved Cisco quote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92640" y="6656832"/>
            <a:ext cx="2194560" cy="20116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900" b="0">
                <a:solidFill>
                  <a:srgbClr val="FFFFFF"/>
                </a:solidFill>
                <a:latin typeface="Calibri"/>
              </a:rPr>
              <a:t>Hallmark CX EA  ·  10 / 18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05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1078992"/>
          </a:xfrm>
          <a:prstGeom prst="rect">
            <a:avLst/>
          </a:prstGeom>
          <a:solidFill>
            <a:srgbClr val="C4A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09728"/>
            <a:ext cx="1133856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>
                <a:solidFill>
                  <a:srgbClr val="C4A35A"/>
                </a:solidFill>
                <a:latin typeface="Calibri"/>
              </a:rPr>
              <a:t>NETWORKING CX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29184"/>
            <a:ext cx="1133856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Support &amp; lifecycle services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713232"/>
            <a:ext cx="1133856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00BCEB"/>
                </a:solidFill>
                <a:latin typeface="Calibri"/>
              </a:rPr>
              <a:t>Portfolio services TCV $1,127,847  ·  Cisco Support Standard unless noted Enhanced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280160"/>
          <a:ext cx="11521440" cy="507492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468880"/>
                <a:gridCol w="4023360"/>
                <a:gridCol w="1417320"/>
                <a:gridCol w="1188720"/>
                <a:gridCol w="2423160"/>
              </a:tblGrid>
              <a:tr h="338328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PID</a:t>
                      </a:r>
                    </a:p>
                  </a:txBody>
                  <a:tcPr marL="60000" marR="60000" marT="40000" marB="40000" anchor="ctr">
                    <a:solidFill>
                      <a:srgbClr val="052B4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COVERAGE</a:t>
                      </a:r>
                    </a:p>
                  </a:txBody>
                  <a:tcPr marL="60000" marR="60000" marT="40000" marB="40000" anchor="ctr">
                    <a:solidFill>
                      <a:srgbClr val="052B4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IB ASSETS</a:t>
                      </a:r>
                    </a:p>
                  </a:txBody>
                  <a:tcPr marL="60000" marR="60000" marT="40000" marB="40000" anchor="ctr">
                    <a:solidFill>
                      <a:srgbClr val="052B4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DISC %</a:t>
                      </a:r>
                    </a:p>
                  </a:txBody>
                  <a:tcPr marL="60000" marR="60000" marT="40000" marB="40000" anchor="ctr">
                    <a:solidFill>
                      <a:srgbClr val="052B4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NET TCV</a:t>
                      </a:r>
                    </a:p>
                  </a:txBody>
                  <a:tcPr marL="60000" marR="60000" marT="40000" marB="40000" anchor="ctr">
                    <a:solidFill>
                      <a:srgbClr val="052B4E"/>
                    </a:solidFill>
                  </a:tcPr>
                </a:tc>
              </a:tr>
              <a:tr h="338328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E3-CX-ST-T1NBD</a:t>
                      </a:r>
                    </a:p>
                  </a:txBody>
                  <a:tcPr marL="60000" marR="60000" marT="40000" marB="4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Switching  8x5xNBD</a:t>
                      </a:r>
                    </a:p>
                  </a:txBody>
                  <a:tcPr marL="60000" marR="60000" marT="40000" marB="4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120</a:t>
                      </a:r>
                    </a:p>
                  </a:txBody>
                  <a:tcPr marL="60000" marR="60000" marT="40000" marB="4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35%</a:t>
                      </a:r>
                    </a:p>
                  </a:txBody>
                  <a:tcPr marL="60000" marR="60000" marT="40000" marB="4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$385,433</a:t>
                      </a:r>
                    </a:p>
                  </a:txBody>
                  <a:tcPr marL="60000" marR="60000" marT="40000" marB="40000" anchor="ctr"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E3-CX-ST-T1NCD</a:t>
                      </a:r>
                    </a:p>
                  </a:txBody>
                  <a:tcPr marL="60000" marR="60000" marT="40000" marB="40000" anchor="ctr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Switching  8x7xNCD</a:t>
                      </a:r>
                    </a:p>
                  </a:txBody>
                  <a:tcPr marL="60000" marR="60000" marT="40000" marB="40000" anchor="ctr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1,053</a:t>
                      </a:r>
                    </a:p>
                  </a:txBody>
                  <a:tcPr marL="60000" marR="60000" marT="40000" marB="40000" anchor="ctr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35%</a:t>
                      </a:r>
                    </a:p>
                  </a:txBody>
                  <a:tcPr marL="60000" marR="60000" marT="40000" marB="40000" anchor="ctr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$246,936</a:t>
                      </a:r>
                    </a:p>
                  </a:txBody>
                  <a:tcPr marL="60000" marR="60000" marT="40000" marB="40000" anchor="ctr">
                    <a:solidFill>
                      <a:srgbClr val="EEF3F8"/>
                    </a:solidFill>
                  </a:tcPr>
                </a:tc>
              </a:tr>
              <a:tr h="338328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E3-CX-ST-T1SWT</a:t>
                      </a:r>
                    </a:p>
                  </a:txBody>
                  <a:tcPr marL="60000" marR="60000" marT="40000" marB="4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Switching  software support</a:t>
                      </a:r>
                    </a:p>
                  </a:txBody>
                  <a:tcPr marL="60000" marR="60000" marT="40000" marB="4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60000" marR="60000" marT="40000" marB="4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35%</a:t>
                      </a:r>
                    </a:p>
                  </a:txBody>
                  <a:tcPr marL="60000" marR="60000" marT="40000" marB="4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$138,048</a:t>
                      </a:r>
                    </a:p>
                  </a:txBody>
                  <a:tcPr marL="60000" marR="60000" marT="40000" marB="40000" anchor="ctr"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E3-CX-CS-ENBD</a:t>
                      </a:r>
                    </a:p>
                  </a:txBody>
                  <a:tcPr marL="60000" marR="60000" marT="40000" marB="40000" anchor="ctr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Cisco Switching  8x5xNBD</a:t>
                      </a:r>
                    </a:p>
                  </a:txBody>
                  <a:tcPr marL="60000" marR="60000" marT="40000" marB="40000" anchor="ctr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91</a:t>
                      </a:r>
                    </a:p>
                  </a:txBody>
                  <a:tcPr marL="60000" marR="60000" marT="40000" marB="40000" anchor="ctr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23%</a:t>
                      </a:r>
                    </a:p>
                  </a:txBody>
                  <a:tcPr marL="60000" marR="60000" marT="40000" marB="40000" anchor="ctr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$81,638</a:t>
                      </a:r>
                    </a:p>
                  </a:txBody>
                  <a:tcPr marL="60000" marR="60000" marT="40000" marB="40000" anchor="ctr">
                    <a:solidFill>
                      <a:srgbClr val="EEF3F8"/>
                    </a:solidFill>
                  </a:tcPr>
                </a:tc>
              </a:tr>
              <a:tr h="338328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E3-CX-DCN-T14HR</a:t>
                      </a:r>
                    </a:p>
                  </a:txBody>
                  <a:tcPr marL="60000" marR="60000" marT="40000" marB="4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Nexus  24x7x4</a:t>
                      </a:r>
                    </a:p>
                  </a:txBody>
                  <a:tcPr marL="60000" marR="60000" marT="40000" marB="4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 marL="60000" marR="60000" marT="40000" marB="4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21%</a:t>
                      </a:r>
                    </a:p>
                  </a:txBody>
                  <a:tcPr marL="60000" marR="60000" marT="40000" marB="4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$83,260</a:t>
                      </a:r>
                    </a:p>
                  </a:txBody>
                  <a:tcPr marL="60000" marR="60000" marT="40000" marB="40000" anchor="ctr"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E3-CX-ST-T14HR</a:t>
                      </a:r>
                    </a:p>
                  </a:txBody>
                  <a:tcPr marL="60000" marR="60000" marT="40000" marB="40000" anchor="ctr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Switching  24x7x4</a:t>
                      </a:r>
                    </a:p>
                  </a:txBody>
                  <a:tcPr marL="60000" marR="60000" marT="40000" marB="40000" anchor="ctr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 marL="60000" marR="60000" marT="40000" marB="40000" anchor="ctr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35%</a:t>
                      </a:r>
                    </a:p>
                  </a:txBody>
                  <a:tcPr marL="60000" marR="60000" marT="40000" marB="40000" anchor="ctr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$57,020</a:t>
                      </a:r>
                    </a:p>
                  </a:txBody>
                  <a:tcPr marL="60000" marR="60000" marT="40000" marB="40000" anchor="ctr">
                    <a:solidFill>
                      <a:srgbClr val="EEF3F8"/>
                    </a:solidFill>
                  </a:tcPr>
                </a:tc>
              </a:tr>
              <a:tr h="338328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E3-CXST-AIR-T1SWP</a:t>
                      </a:r>
                    </a:p>
                  </a:txBody>
                  <a:tcPr marL="60000" marR="60000" marT="40000" marB="4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Wireless  software support</a:t>
                      </a:r>
                    </a:p>
                  </a:txBody>
                  <a:tcPr marL="60000" marR="60000" marT="40000" marB="4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60000" marR="60000" marT="40000" marB="4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35%</a:t>
                      </a:r>
                    </a:p>
                  </a:txBody>
                  <a:tcPr marL="60000" marR="60000" marT="40000" marB="4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$33,114</a:t>
                      </a:r>
                    </a:p>
                  </a:txBody>
                  <a:tcPr marL="60000" marR="60000" marT="40000" marB="40000" anchor="ctr"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E3-CX-DCN-L1SWPERP</a:t>
                      </a:r>
                    </a:p>
                  </a:txBody>
                  <a:tcPr marL="60000" marR="60000" marT="40000" marB="40000" anchor="ctr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Nexus  perpetual</a:t>
                      </a:r>
                    </a:p>
                  </a:txBody>
                  <a:tcPr marL="60000" marR="60000" marT="40000" marB="40000" anchor="ctr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24</a:t>
                      </a:r>
                    </a:p>
                  </a:txBody>
                  <a:tcPr marL="60000" marR="60000" marT="40000" marB="40000" anchor="ctr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22%</a:t>
                      </a:r>
                    </a:p>
                  </a:txBody>
                  <a:tcPr marL="60000" marR="60000" marT="40000" marB="40000" anchor="ctr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$27,504</a:t>
                      </a:r>
                    </a:p>
                  </a:txBody>
                  <a:tcPr marL="60000" marR="60000" marT="40000" marB="40000" anchor="ctr">
                    <a:solidFill>
                      <a:srgbClr val="EEF3F8"/>
                    </a:solidFill>
                  </a:tcPr>
                </a:tc>
              </a:tr>
              <a:tr h="338328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E3-CX-DCN-T1NBD</a:t>
                      </a:r>
                    </a:p>
                  </a:txBody>
                  <a:tcPr marL="60000" marR="60000" marT="40000" marB="4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Nexus  8x5xNBD</a:t>
                      </a:r>
                    </a:p>
                  </a:txBody>
                  <a:tcPr marL="60000" marR="60000" marT="40000" marB="4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26</a:t>
                      </a:r>
                    </a:p>
                  </a:txBody>
                  <a:tcPr marL="60000" marR="60000" marT="40000" marB="4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30%</a:t>
                      </a:r>
                    </a:p>
                  </a:txBody>
                  <a:tcPr marL="60000" marR="60000" marT="40000" marB="4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$23,171</a:t>
                      </a:r>
                    </a:p>
                  </a:txBody>
                  <a:tcPr marL="60000" marR="60000" marT="40000" marB="40000" anchor="ctr"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E3-CX-DNS-T1SWC</a:t>
                      </a:r>
                    </a:p>
                  </a:txBody>
                  <a:tcPr marL="60000" marR="60000" marT="40000" marB="40000" anchor="ctr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Spaces / DNAS cloud SW (Enhanced)</a:t>
                      </a:r>
                    </a:p>
                  </a:txBody>
                  <a:tcPr marL="60000" marR="60000" marT="40000" marB="40000" anchor="ctr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60000" marR="60000" marT="40000" marB="40000" anchor="ctr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35%</a:t>
                      </a:r>
                    </a:p>
                  </a:txBody>
                  <a:tcPr marL="60000" marR="60000" marT="40000" marB="40000" anchor="ctr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$19,705</a:t>
                      </a:r>
                    </a:p>
                  </a:txBody>
                  <a:tcPr marL="60000" marR="60000" marT="40000" marB="40000" anchor="ctr">
                    <a:solidFill>
                      <a:srgbClr val="EEF3F8"/>
                    </a:solidFill>
                  </a:tcPr>
                </a:tc>
              </a:tr>
              <a:tr h="338328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E3-CX-DCN-T1NCD</a:t>
                      </a:r>
                    </a:p>
                  </a:txBody>
                  <a:tcPr marL="60000" marR="60000" marT="40000" marB="4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Nexus  8x7xNCD</a:t>
                      </a:r>
                    </a:p>
                  </a:txBody>
                  <a:tcPr marL="60000" marR="60000" marT="40000" marB="4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16</a:t>
                      </a:r>
                    </a:p>
                  </a:txBody>
                  <a:tcPr marL="60000" marR="60000" marT="40000" marB="4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23%</a:t>
                      </a:r>
                    </a:p>
                  </a:txBody>
                  <a:tcPr marL="60000" marR="60000" marT="40000" marB="4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$15,612</a:t>
                      </a:r>
                    </a:p>
                  </a:txBody>
                  <a:tcPr marL="60000" marR="60000" marT="40000" marB="40000" anchor="ctr"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E3-CX-ST-T1NOS</a:t>
                      </a:r>
                    </a:p>
                  </a:txBody>
                  <a:tcPr marL="60000" marR="60000" marT="40000" marB="40000" anchor="ctr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Switching  8x5xNBD OS</a:t>
                      </a:r>
                    </a:p>
                  </a:txBody>
                  <a:tcPr marL="60000" marR="60000" marT="40000" marB="40000" anchor="ctr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 marL="60000" marR="60000" marT="40000" marB="40000" anchor="ctr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35%</a:t>
                      </a:r>
                    </a:p>
                  </a:txBody>
                  <a:tcPr marL="60000" marR="60000" marT="40000" marB="40000" anchor="ctr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$12,789</a:t>
                      </a:r>
                    </a:p>
                  </a:txBody>
                  <a:tcPr marL="60000" marR="60000" marT="40000" marB="40000" anchor="ctr">
                    <a:solidFill>
                      <a:srgbClr val="EEF3F8"/>
                    </a:solidFill>
                  </a:tcPr>
                </a:tc>
              </a:tr>
              <a:tr h="338328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E3-CX-CW-ENCD</a:t>
                      </a:r>
                    </a:p>
                  </a:txBody>
                  <a:tcPr marL="60000" marR="60000" marT="40000" marB="4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Cisco Wireless  8x7xNCD</a:t>
                      </a:r>
                    </a:p>
                  </a:txBody>
                  <a:tcPr marL="60000" marR="60000" marT="40000" marB="4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16</a:t>
                      </a:r>
                    </a:p>
                  </a:txBody>
                  <a:tcPr marL="60000" marR="60000" marT="40000" marB="4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31%</a:t>
                      </a:r>
                    </a:p>
                  </a:txBody>
                  <a:tcPr marL="60000" marR="60000" marT="40000" marB="4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$3,615</a:t>
                      </a:r>
                    </a:p>
                  </a:txBody>
                  <a:tcPr marL="60000" marR="60000" marT="40000" marB="40000" anchor="ctr"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 wrap="square"/>
                    <a:lstStyle/>
                    <a:p>
                      <a:pPr algn="l">
                        <a:defRPr b="1"/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TOTAL NETWORKING CX</a:t>
                      </a:r>
                    </a:p>
                  </a:txBody>
                  <a:tcPr marL="60000" marR="60000" marT="40000" marB="40000" anchor="ctr">
                    <a:solidFill>
                      <a:srgbClr val="052B4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b="1"/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60000" marR="60000" marT="40000" marB="40000" anchor="ctr">
                    <a:solidFill>
                      <a:srgbClr val="052B4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b="1"/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60000" marR="60000" marT="40000" marB="40000" anchor="ctr">
                    <a:solidFill>
                      <a:srgbClr val="052B4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b="1"/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60000" marR="60000" marT="40000" marB="40000" anchor="ctr">
                    <a:solidFill>
                      <a:srgbClr val="052B4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b="1"/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$1,127,847</a:t>
                      </a:r>
                    </a:p>
                  </a:txBody>
                  <a:tcPr marL="60000" marR="60000" marT="40000" marB="40000" anchor="ctr">
                    <a:solidFill>
                      <a:srgbClr val="052B4E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5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40" y="6656832"/>
            <a:ext cx="7772400" cy="20116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900" b="0">
                <a:solidFill>
                  <a:srgbClr val="FFFFFF"/>
                </a:solidFill>
                <a:latin typeface="Calibri"/>
              </a:rPr>
              <a:t>CISCO CONFIDENTIAL  |  Indicative pricing as of 08-Sep-2026  |  Not an approved Cisco quote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92640" y="6656832"/>
            <a:ext cx="2194560" cy="20116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900" b="0">
                <a:solidFill>
                  <a:srgbClr val="FFFFFF"/>
                </a:solidFill>
                <a:latin typeface="Calibri"/>
              </a:rPr>
              <a:t>Hallmark CX EA  ·  11 / 18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05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1078992"/>
          </a:xfrm>
          <a:prstGeom prst="rect">
            <a:avLst/>
          </a:prstGeom>
          <a:solidFill>
            <a:srgbClr val="C4A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09728"/>
            <a:ext cx="1133856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>
                <a:solidFill>
                  <a:srgbClr val="C4A35A"/>
                </a:solidFill>
                <a:latin typeface="Calibri"/>
              </a:rPr>
              <a:t>APPLICATIONS INFRASTRUCTURE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29184"/>
            <a:ext cx="1133856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Splunk Cloud and ThousandEyes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713232"/>
            <a:ext cx="1133856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00BCEB"/>
                </a:solidFill>
                <a:latin typeface="Calibri"/>
              </a:rPr>
              <a:t>Software TCV $437,058  ·  No attached CX on this portfolio  ·  Full commitment  ·  5% programmatic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1298448"/>
            <a:ext cx="2788920" cy="11155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1298448"/>
            <a:ext cx="73152" cy="1115568"/>
          </a:xfrm>
          <a:prstGeom prst="rect">
            <a:avLst/>
          </a:prstGeom>
          <a:solidFill>
            <a:srgbClr val="C4A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30352" y="1389888"/>
            <a:ext cx="2532888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1">
                <a:solidFill>
                  <a:srgbClr val="5A6472"/>
                </a:solidFill>
                <a:latin typeface="Calibri"/>
              </a:rPr>
              <a:t>PORTFOLIO TCV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" y="1609344"/>
            <a:ext cx="2532888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200" b="1">
                <a:solidFill>
                  <a:srgbClr val="052B4E"/>
                </a:solidFill>
                <a:latin typeface="Calibri"/>
              </a:rPr>
              <a:t>$437,058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0352" y="2011680"/>
            <a:ext cx="2532888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>
                <a:solidFill>
                  <a:srgbClr val="5A6472"/>
                </a:solidFill>
                <a:latin typeface="Calibri"/>
              </a:rPr>
              <a:t>100% software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91840" y="1298448"/>
            <a:ext cx="2788920" cy="11155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291840" y="1298448"/>
            <a:ext cx="73152" cy="1115568"/>
          </a:xfrm>
          <a:prstGeom prst="rect">
            <a:avLst/>
          </a:prstGeom>
          <a:solidFill>
            <a:srgbClr val="049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56432" y="1389888"/>
            <a:ext cx="2532888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1">
                <a:solidFill>
                  <a:srgbClr val="5A6472"/>
                </a:solidFill>
                <a:latin typeface="Calibri"/>
              </a:rPr>
              <a:t>SPLUNK CLOUD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56432" y="1609344"/>
            <a:ext cx="2532888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200" b="1">
                <a:solidFill>
                  <a:srgbClr val="052B4E"/>
                </a:solidFill>
                <a:latin typeface="Calibri"/>
              </a:rPr>
              <a:t>$90,918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56432" y="2011680"/>
            <a:ext cx="2532888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>
                <a:solidFill>
                  <a:srgbClr val="5A6472"/>
                </a:solidFill>
                <a:latin typeface="Calibri"/>
              </a:rPr>
              <a:t>50 GB/day  ·  42% sub disc.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1298448"/>
            <a:ext cx="2788920" cy="11155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17920" y="1298448"/>
            <a:ext cx="73152" cy="1115568"/>
          </a:xfrm>
          <a:prstGeom prst="rect">
            <a:avLst/>
          </a:prstGeom>
          <a:solidFill>
            <a:srgbClr val="00BC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82512" y="1389888"/>
            <a:ext cx="2532888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1">
                <a:solidFill>
                  <a:srgbClr val="5A6472"/>
                </a:solidFill>
                <a:latin typeface="Calibri"/>
              </a:rPr>
              <a:t>THOUSANDEYES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82512" y="1609344"/>
            <a:ext cx="2532888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200" b="1">
                <a:solidFill>
                  <a:srgbClr val="052B4E"/>
                </a:solidFill>
                <a:latin typeface="Calibri"/>
              </a:rPr>
              <a:t>$346,140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82512" y="2011680"/>
            <a:ext cx="2532888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>
                <a:solidFill>
                  <a:srgbClr val="5A6472"/>
                </a:solidFill>
                <a:latin typeface="Calibri"/>
              </a:rPr>
              <a:t>Agents + EUM  ·  30% sub disc.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144000" y="1298448"/>
            <a:ext cx="2788920" cy="11155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144000" y="1298448"/>
            <a:ext cx="73152" cy="1115568"/>
          </a:xfrm>
          <a:prstGeom prst="rect">
            <a:avLst/>
          </a:prstGeom>
          <a:solidFill>
            <a:srgbClr val="2EA8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308592" y="1389888"/>
            <a:ext cx="2532888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1">
                <a:solidFill>
                  <a:srgbClr val="5A6472"/>
                </a:solidFill>
                <a:latin typeface="Calibri"/>
              </a:rPr>
              <a:t>SUCCESS PLAN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08592" y="1609344"/>
            <a:ext cx="2532888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200" b="1">
                <a:solidFill>
                  <a:srgbClr val="052B4E"/>
                </a:solidFill>
                <a:latin typeface="Calibri"/>
              </a:rPr>
              <a:t>Included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308592" y="2011680"/>
            <a:ext cx="2532888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>
                <a:solidFill>
                  <a:srgbClr val="5A6472"/>
                </a:solidFill>
                <a:latin typeface="Calibri"/>
              </a:rPr>
              <a:t>Splunk Standard Success</a:t>
            </a:r>
          </a:p>
        </p:txBody>
      </p:sp>
      <p:graphicFrame>
        <p:nvGraphicFramePr>
          <p:cNvPr id="28" name="Table 27"/>
          <p:cNvGraphicFramePr>
            <a:graphicFrameLocks noGrp="1"/>
          </p:cNvGraphicFramePr>
          <p:nvPr/>
        </p:nvGraphicFramePr>
        <p:xfrm>
          <a:off x="320040" y="2651760"/>
          <a:ext cx="11521440" cy="278892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011680"/>
                <a:gridCol w="4297680"/>
                <a:gridCol w="1005840"/>
                <a:gridCol w="1554480"/>
                <a:gridCol w="1188720"/>
                <a:gridCol w="1463040"/>
              </a:tblGrid>
              <a:tr h="398417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PID</a:t>
                      </a:r>
                    </a:p>
                  </a:txBody>
                  <a:tcPr marL="60000" marR="60000" marT="40000" marB="40000" anchor="ctr">
                    <a:solidFill>
                      <a:srgbClr val="052B4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DESCRIPTION</a:t>
                      </a:r>
                    </a:p>
                  </a:txBody>
                  <a:tcPr marL="60000" marR="60000" marT="40000" marB="40000" anchor="ctr">
                    <a:solidFill>
                      <a:srgbClr val="052B4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QTY</a:t>
                      </a:r>
                    </a:p>
                  </a:txBody>
                  <a:tcPr marL="60000" marR="60000" marT="40000" marB="40000" anchor="ctr">
                    <a:solidFill>
                      <a:srgbClr val="052B4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UNIT LIST / MO</a:t>
                      </a:r>
                    </a:p>
                  </a:txBody>
                  <a:tcPr marL="60000" marR="60000" marT="40000" marB="40000" anchor="ctr">
                    <a:solidFill>
                      <a:srgbClr val="052B4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SUB DISC.</a:t>
                      </a:r>
                    </a:p>
                  </a:txBody>
                  <a:tcPr marL="60000" marR="60000" marT="40000" marB="40000" anchor="ctr">
                    <a:solidFill>
                      <a:srgbClr val="052B4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NET TCV</a:t>
                      </a:r>
                    </a:p>
                  </a:txBody>
                  <a:tcPr marL="60000" marR="60000" marT="40000" marB="40000" anchor="ctr">
                    <a:solidFill>
                      <a:srgbClr val="052B4E"/>
                    </a:solidFill>
                  </a:tcPr>
                </a:tc>
              </a:tr>
              <a:tr h="398417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E3A-SK-SE-CLD-S</a:t>
                      </a:r>
                    </a:p>
                  </a:txBody>
                  <a:tcPr marL="60000" marR="60000" marT="40000" marB="4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Splunk Cloud Subscription — Std success (GB/day)</a:t>
                      </a:r>
                    </a:p>
                  </a:txBody>
                  <a:tcPr marL="60000" marR="60000" marT="40000" marB="4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50</a:t>
                      </a:r>
                    </a:p>
                  </a:txBody>
                  <a:tcPr marL="60000" marR="60000" marT="40000" marB="4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$87.09</a:t>
                      </a:r>
                    </a:p>
                  </a:txBody>
                  <a:tcPr marL="60000" marR="60000" marT="40000" marB="4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42%</a:t>
                      </a:r>
                    </a:p>
                  </a:txBody>
                  <a:tcPr marL="60000" marR="60000" marT="40000" marB="4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$90,918</a:t>
                      </a:r>
                    </a:p>
                  </a:txBody>
                  <a:tcPr marL="60000" marR="60000" marT="40000" marB="40000" anchor="ctr">
                    <a:solidFill>
                      <a:srgbClr val="FFFFFF"/>
                    </a:solidFill>
                  </a:tcPr>
                </a:tc>
              </a:tr>
              <a:tr h="398417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E3-CX-SK-SUP-ST</a:t>
                      </a:r>
                    </a:p>
                  </a:txBody>
                  <a:tcPr marL="60000" marR="60000" marT="40000" marB="40000" anchor="ctr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Splunk Standard Success Plan</a:t>
                      </a:r>
                    </a:p>
                  </a:txBody>
                  <a:tcPr marL="60000" marR="60000" marT="40000" marB="40000" anchor="ctr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60000" marR="60000" marT="40000" marB="40000" anchor="ctr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$0.00</a:t>
                      </a:r>
                    </a:p>
                  </a:txBody>
                  <a:tcPr marL="60000" marR="60000" marT="40000" marB="40000" anchor="ctr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60000" marR="60000" marT="40000" marB="40000" anchor="ctr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$0</a:t>
                      </a:r>
                    </a:p>
                  </a:txBody>
                  <a:tcPr marL="60000" marR="60000" marT="40000" marB="40000" anchor="ctr">
                    <a:solidFill>
                      <a:srgbClr val="EEF3F8"/>
                    </a:solidFill>
                  </a:tcPr>
                </a:tc>
              </a:tr>
              <a:tr h="398417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E3A-TE-UNITS</a:t>
                      </a:r>
                    </a:p>
                  </a:txBody>
                  <a:tcPr marL="60000" marR="60000" marT="40000" marB="4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ThousandEyes Cloud &amp; Enterprise Agents (per unit)</a:t>
                      </a:r>
                    </a:p>
                  </a:txBody>
                  <a:tcPr marL="60000" marR="60000" marT="40000" marB="4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1,500</a:t>
                      </a:r>
                    </a:p>
                  </a:txBody>
                  <a:tcPr marL="60000" marR="60000" marT="40000" marB="4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$0.84</a:t>
                      </a:r>
                    </a:p>
                  </a:txBody>
                  <a:tcPr marL="60000" marR="60000" marT="40000" marB="4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30%</a:t>
                      </a:r>
                    </a:p>
                  </a:txBody>
                  <a:tcPr marL="60000" marR="60000" marT="40000" marB="4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$31,860</a:t>
                      </a:r>
                    </a:p>
                  </a:txBody>
                  <a:tcPr marL="60000" marR="60000" marT="40000" marB="40000" anchor="ctr">
                    <a:solidFill>
                      <a:srgbClr val="FFFFFF"/>
                    </a:solidFill>
                  </a:tcPr>
                </a:tc>
              </a:tr>
              <a:tr h="398417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E3A-TE-USERS</a:t>
                      </a:r>
                    </a:p>
                  </a:txBody>
                  <a:tcPr marL="60000" marR="60000" marT="40000" marB="40000" anchor="ctr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ThousandEyes End User Monitoring Advantage</a:t>
                      </a:r>
                    </a:p>
                  </a:txBody>
                  <a:tcPr marL="60000" marR="60000" marT="40000" marB="40000" anchor="ctr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1,500</a:t>
                      </a:r>
                    </a:p>
                  </a:txBody>
                  <a:tcPr marL="60000" marR="60000" marT="40000" marB="40000" anchor="ctr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$8.31</a:t>
                      </a:r>
                    </a:p>
                  </a:txBody>
                  <a:tcPr marL="60000" marR="60000" marT="40000" marB="40000" anchor="ctr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30%</a:t>
                      </a:r>
                    </a:p>
                  </a:txBody>
                  <a:tcPr marL="60000" marR="60000" marT="40000" marB="40000" anchor="ctr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$314,280</a:t>
                      </a:r>
                    </a:p>
                  </a:txBody>
                  <a:tcPr marL="60000" marR="60000" marT="40000" marB="40000" anchor="ctr">
                    <a:solidFill>
                      <a:srgbClr val="EEF3F8"/>
                    </a:solidFill>
                  </a:tcPr>
                </a:tc>
              </a:tr>
              <a:tr h="398417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E3A-TE-S</a:t>
                      </a:r>
                    </a:p>
                  </a:txBody>
                  <a:tcPr marL="60000" marR="60000" marT="40000" marB="4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Cisco Support Basic for EA ThousandEyes</a:t>
                      </a:r>
                    </a:p>
                  </a:txBody>
                  <a:tcPr marL="60000" marR="60000" marT="40000" marB="4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60000" marR="60000" marT="40000" marB="4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$0.00</a:t>
                      </a:r>
                    </a:p>
                  </a:txBody>
                  <a:tcPr marL="60000" marR="60000" marT="40000" marB="4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60000" marR="60000" marT="40000" marB="4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$0</a:t>
                      </a:r>
                    </a:p>
                  </a:txBody>
                  <a:tcPr marL="60000" marR="60000" marT="40000" marB="40000" anchor="ctr">
                    <a:solidFill>
                      <a:srgbClr val="FFFFFF"/>
                    </a:solidFill>
                  </a:tcPr>
                </a:tc>
              </a:tr>
              <a:tr h="398418">
                <a:tc>
                  <a:txBody>
                    <a:bodyPr wrap="square"/>
                    <a:lstStyle/>
                    <a:p>
                      <a:pPr algn="l">
                        <a:defRPr b="1"/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TOTAL</a:t>
                      </a:r>
                    </a:p>
                  </a:txBody>
                  <a:tcPr marL="60000" marR="60000" marT="40000" marB="40000" anchor="ctr">
                    <a:solidFill>
                      <a:srgbClr val="052B4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b="1"/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60000" marR="60000" marT="40000" marB="40000" anchor="ctr">
                    <a:solidFill>
                      <a:srgbClr val="052B4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b="1"/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60000" marR="60000" marT="40000" marB="40000" anchor="ctr">
                    <a:solidFill>
                      <a:srgbClr val="052B4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b="1"/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60000" marR="60000" marT="40000" marB="40000" anchor="ctr">
                    <a:solidFill>
                      <a:srgbClr val="052B4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b="1"/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60000" marR="60000" marT="40000" marB="40000" anchor="ctr">
                    <a:solidFill>
                      <a:srgbClr val="052B4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b="1"/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$437,058</a:t>
                      </a:r>
                    </a:p>
                  </a:txBody>
                  <a:tcPr marL="60000" marR="60000" marT="40000" marB="40000" anchor="ctr">
                    <a:solidFill>
                      <a:srgbClr val="052B4E"/>
                    </a:solidFill>
                  </a:tcPr>
                </a:tc>
              </a:tr>
            </a:tbl>
          </a:graphicData>
        </a:graphic>
      </p:graphicFrame>
      <p:sp>
        <p:nvSpPr>
          <p:cNvPr id="29" name="TextBox 28"/>
          <p:cNvSpPr txBox="1"/>
          <p:nvPr/>
        </p:nvSpPr>
        <p:spPr>
          <a:xfrm>
            <a:off x="411480" y="5577840"/>
            <a:ext cx="11338560" cy="777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5A6472"/>
                </a:solidFill>
                <a:latin typeface="Calibri"/>
              </a:rPr>
              <a:t>Use case fit: Splunk Cloud gives Hallmark a 50 GB/day security/observability ingest baseline on-contract. ThousandEyes (1,500 cloud/enterprise units + 1,500 EUM seats) extends digital-experience visibility across retail, HQ, and partner paths — aligned to the CX EA motion.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5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20040" y="6656832"/>
            <a:ext cx="7772400" cy="20116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900" b="0">
                <a:solidFill>
                  <a:srgbClr val="FFFFFF"/>
                </a:solidFill>
                <a:latin typeface="Calibri"/>
              </a:rPr>
              <a:t>CISCO CONFIDENTIAL  |  Indicative pricing as of 08-Sep-2026  |  Not an approved Cisco quote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92640" y="6656832"/>
            <a:ext cx="2194560" cy="20116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900" b="0">
                <a:solidFill>
                  <a:srgbClr val="FFFFFF"/>
                </a:solidFill>
                <a:latin typeface="Calibri"/>
              </a:rPr>
              <a:t>Hallmark CX EA  ·  12 / 18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05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1078992"/>
          </a:xfrm>
          <a:prstGeom prst="rect">
            <a:avLst/>
          </a:prstGeom>
          <a:solidFill>
            <a:srgbClr val="C4A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09728"/>
            <a:ext cx="1133856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>
                <a:solidFill>
                  <a:srgbClr val="C4A35A"/>
                </a:solidFill>
                <a:latin typeface="Calibri"/>
              </a:rPr>
              <a:t>SECURITY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29184"/>
            <a:ext cx="1133856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Identity Services Engine (Zero Trust)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713232"/>
            <a:ext cx="1133856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00BCEB"/>
                </a:solidFill>
                <a:latin typeface="Calibri"/>
              </a:rPr>
              <a:t>SCU count 1,000  ·  Software $76,727  ·  CX $115,233  ·  Combined $191,960  ·  Full commitment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1298448"/>
            <a:ext cx="2788920" cy="11155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1298448"/>
            <a:ext cx="73152" cy="1115568"/>
          </a:xfrm>
          <a:prstGeom prst="rect">
            <a:avLst/>
          </a:prstGeom>
          <a:solidFill>
            <a:srgbClr val="C4A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30352" y="1389888"/>
            <a:ext cx="2532888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1">
                <a:solidFill>
                  <a:srgbClr val="5A6472"/>
                </a:solidFill>
                <a:latin typeface="Calibri"/>
              </a:rPr>
              <a:t>ISE ADVANTAGE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" y="1609344"/>
            <a:ext cx="2532888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200" b="1">
                <a:solidFill>
                  <a:srgbClr val="052B4E"/>
                </a:solidFill>
                <a:latin typeface="Calibri"/>
              </a:rPr>
              <a:t>3,450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0352" y="2011680"/>
            <a:ext cx="2532888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>
                <a:solidFill>
                  <a:srgbClr val="5A6472"/>
                </a:solidFill>
                <a:latin typeface="Calibri"/>
              </a:rPr>
              <a:t>IB 400  →  desired 3,450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91840" y="1298448"/>
            <a:ext cx="2788920" cy="11155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291840" y="1298448"/>
            <a:ext cx="73152" cy="1115568"/>
          </a:xfrm>
          <a:prstGeom prst="rect">
            <a:avLst/>
          </a:prstGeom>
          <a:solidFill>
            <a:srgbClr val="049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56432" y="1389888"/>
            <a:ext cx="2532888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1">
                <a:solidFill>
                  <a:srgbClr val="5A6472"/>
                </a:solidFill>
                <a:latin typeface="Calibri"/>
              </a:rPr>
              <a:t>ISE ESSENTIALS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56432" y="1609344"/>
            <a:ext cx="2532888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200" b="1">
                <a:solidFill>
                  <a:srgbClr val="052B4E"/>
                </a:solidFill>
                <a:latin typeface="Calibri"/>
              </a:rPr>
              <a:t>1,100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56432" y="2011680"/>
            <a:ext cx="2532888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>
                <a:solidFill>
                  <a:srgbClr val="5A6472"/>
                </a:solidFill>
                <a:latin typeface="Calibri"/>
              </a:rPr>
              <a:t>IB 300  →  desired 1,100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1298448"/>
            <a:ext cx="2788920" cy="11155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17920" y="1298448"/>
            <a:ext cx="73152" cy="1115568"/>
          </a:xfrm>
          <a:prstGeom prst="rect">
            <a:avLst/>
          </a:prstGeom>
          <a:solidFill>
            <a:srgbClr val="00BC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82512" y="1389888"/>
            <a:ext cx="2532888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1">
                <a:solidFill>
                  <a:srgbClr val="5A6472"/>
                </a:solidFill>
                <a:latin typeface="Calibri"/>
              </a:rPr>
              <a:t>SOFTWARE TCV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82512" y="1609344"/>
            <a:ext cx="2532888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200" b="1">
                <a:solidFill>
                  <a:srgbClr val="052B4E"/>
                </a:solidFill>
                <a:latin typeface="Calibri"/>
              </a:rPr>
              <a:t>$76,727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82512" y="2011680"/>
            <a:ext cx="2532888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>
                <a:solidFill>
                  <a:srgbClr val="5A6472"/>
                </a:solidFill>
                <a:latin typeface="Calibri"/>
              </a:rPr>
              <a:t>42% subscription discount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144000" y="1298448"/>
            <a:ext cx="2788920" cy="11155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144000" y="1298448"/>
            <a:ext cx="73152" cy="1115568"/>
          </a:xfrm>
          <a:prstGeom prst="rect">
            <a:avLst/>
          </a:prstGeom>
          <a:solidFill>
            <a:srgbClr val="2EA8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308592" y="1389888"/>
            <a:ext cx="2532888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1">
                <a:solidFill>
                  <a:srgbClr val="5A6472"/>
                </a:solidFill>
                <a:latin typeface="Calibri"/>
              </a:rPr>
              <a:t>ISE CX TCV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08592" y="1609344"/>
            <a:ext cx="2532888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200" b="1">
                <a:solidFill>
                  <a:srgbClr val="052B4E"/>
                </a:solidFill>
                <a:latin typeface="Calibri"/>
              </a:rPr>
              <a:t>$115,233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308592" y="2011680"/>
            <a:ext cx="2532888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>
                <a:solidFill>
                  <a:srgbClr val="5A6472"/>
                </a:solidFill>
                <a:latin typeface="Calibri"/>
              </a:rPr>
              <a:t>Support Standard + credits</a:t>
            </a:r>
          </a:p>
        </p:txBody>
      </p:sp>
      <p:graphicFrame>
        <p:nvGraphicFramePr>
          <p:cNvPr id="28" name="Table 27"/>
          <p:cNvGraphicFramePr>
            <a:graphicFrameLocks noGrp="1"/>
          </p:cNvGraphicFramePr>
          <p:nvPr/>
        </p:nvGraphicFramePr>
        <p:xfrm>
          <a:off x="320040" y="2633472"/>
          <a:ext cx="11521440" cy="361188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103120"/>
                <a:gridCol w="4297680"/>
                <a:gridCol w="960120"/>
                <a:gridCol w="1097280"/>
                <a:gridCol w="1051560"/>
                <a:gridCol w="2011680"/>
              </a:tblGrid>
              <a:tr h="401320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PID</a:t>
                      </a:r>
                    </a:p>
                  </a:txBody>
                  <a:tcPr marL="60000" marR="60000" marT="40000" marB="40000" anchor="ctr">
                    <a:solidFill>
                      <a:srgbClr val="052B4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DESCRIPTION</a:t>
                      </a:r>
                    </a:p>
                  </a:txBody>
                  <a:tcPr marL="60000" marR="60000" marT="40000" marB="40000" anchor="ctr">
                    <a:solidFill>
                      <a:srgbClr val="052B4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IB</a:t>
                      </a:r>
                    </a:p>
                  </a:txBody>
                  <a:tcPr marL="60000" marR="60000" marT="40000" marB="40000" anchor="ctr">
                    <a:solidFill>
                      <a:srgbClr val="052B4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QTY</a:t>
                      </a:r>
                    </a:p>
                  </a:txBody>
                  <a:tcPr marL="60000" marR="60000" marT="40000" marB="40000" anchor="ctr">
                    <a:solidFill>
                      <a:srgbClr val="052B4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DISC.</a:t>
                      </a:r>
                    </a:p>
                  </a:txBody>
                  <a:tcPr marL="60000" marR="60000" marT="40000" marB="40000" anchor="ctr">
                    <a:solidFill>
                      <a:srgbClr val="052B4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NET TCV</a:t>
                      </a:r>
                    </a:p>
                  </a:txBody>
                  <a:tcPr marL="60000" marR="60000" marT="40000" marB="40000" anchor="ctr">
                    <a:solidFill>
                      <a:srgbClr val="052B4E"/>
                    </a:solidFill>
                  </a:tcPr>
                </a:tc>
              </a:tr>
              <a:tr h="40132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E3S-ISE-ADV</a:t>
                      </a:r>
                    </a:p>
                  </a:txBody>
                  <a:tcPr marL="60000" marR="60000" marT="40000" marB="4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ISE Advantage</a:t>
                      </a:r>
                    </a:p>
                  </a:txBody>
                  <a:tcPr marL="60000" marR="60000" marT="40000" marB="4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400</a:t>
                      </a:r>
                    </a:p>
                  </a:txBody>
                  <a:tcPr marL="60000" marR="60000" marT="40000" marB="4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3,450</a:t>
                      </a:r>
                    </a:p>
                  </a:txBody>
                  <a:tcPr marL="60000" marR="60000" marT="40000" marB="4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42%</a:t>
                      </a:r>
                    </a:p>
                  </a:txBody>
                  <a:tcPr marL="60000" marR="60000" marT="40000" marB="4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$70,470</a:t>
                      </a:r>
                    </a:p>
                  </a:txBody>
                  <a:tcPr marL="60000" marR="60000" marT="40000" marB="40000" anchor="ctr">
                    <a:solidFill>
                      <a:srgbClr val="FFFFFF"/>
                    </a:solidFill>
                  </a:tcPr>
                </a:tc>
              </a:tr>
              <a:tr h="40132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E3S-ISE-ESS</a:t>
                      </a:r>
                    </a:p>
                  </a:txBody>
                  <a:tcPr marL="60000" marR="60000" marT="40000" marB="40000" anchor="ctr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ISE Essentials</a:t>
                      </a:r>
                    </a:p>
                  </a:txBody>
                  <a:tcPr marL="60000" marR="60000" marT="40000" marB="40000" anchor="ctr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300</a:t>
                      </a:r>
                    </a:p>
                  </a:txBody>
                  <a:tcPr marL="60000" marR="60000" marT="40000" marB="40000" anchor="ctr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1,100</a:t>
                      </a:r>
                    </a:p>
                  </a:txBody>
                  <a:tcPr marL="60000" marR="60000" marT="40000" marB="40000" anchor="ctr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42%</a:t>
                      </a:r>
                    </a:p>
                  </a:txBody>
                  <a:tcPr marL="60000" marR="60000" marT="40000" marB="40000" anchor="ctr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$6,256</a:t>
                      </a:r>
                    </a:p>
                  </a:txBody>
                  <a:tcPr marL="60000" marR="60000" marT="40000" marB="40000" anchor="ctr">
                    <a:solidFill>
                      <a:srgbClr val="EEF3F8"/>
                    </a:solidFill>
                  </a:tcPr>
                </a:tc>
              </a:tr>
              <a:tr h="40132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SVS-E3S-ISE-B</a:t>
                      </a:r>
                    </a:p>
                  </a:txBody>
                  <a:tcPr marL="60000" marR="60000" marT="40000" marB="4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Cisco Support Basic for ISE</a:t>
                      </a:r>
                    </a:p>
                  </a:txBody>
                  <a:tcPr marL="60000" marR="60000" marT="40000" marB="4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60000" marR="60000" marT="40000" marB="4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60000" marR="60000" marT="40000" marB="4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23%</a:t>
                      </a:r>
                    </a:p>
                  </a:txBody>
                  <a:tcPr marL="60000" marR="60000" marT="40000" marB="4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$0</a:t>
                      </a:r>
                    </a:p>
                  </a:txBody>
                  <a:tcPr marL="60000" marR="60000" marT="40000" marB="40000" anchor="ctr">
                    <a:solidFill>
                      <a:srgbClr val="FFFFFF"/>
                    </a:solidFill>
                  </a:tcPr>
                </a:tc>
              </a:tr>
              <a:tr h="40132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E3-CX-ISE-ENBD</a:t>
                      </a:r>
                    </a:p>
                  </a:txBody>
                  <a:tcPr marL="60000" marR="60000" marT="40000" marB="40000" anchor="ctr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Support Standard  8x5xNBD for ISE</a:t>
                      </a:r>
                    </a:p>
                  </a:txBody>
                  <a:tcPr marL="60000" marR="60000" marT="40000" marB="40000" anchor="ctr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marL="60000" marR="60000" marT="40000" marB="40000" anchor="ctr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60000" marR="60000" marT="40000" marB="40000" anchor="ctr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23%</a:t>
                      </a:r>
                    </a:p>
                  </a:txBody>
                  <a:tcPr marL="60000" marR="60000" marT="40000" marB="40000" anchor="ctr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$51,486</a:t>
                      </a:r>
                    </a:p>
                  </a:txBody>
                  <a:tcPr marL="60000" marR="60000" marT="40000" marB="40000" anchor="ctr">
                    <a:solidFill>
                      <a:srgbClr val="EEF3F8"/>
                    </a:solidFill>
                  </a:tcPr>
                </a:tc>
              </a:tr>
              <a:tr h="40132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E3-CX-ISE-EPER</a:t>
                      </a:r>
                    </a:p>
                  </a:txBody>
                  <a:tcPr marL="60000" marR="60000" marT="40000" marB="4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Cisco Support Standard Perpetual for ISE</a:t>
                      </a:r>
                    </a:p>
                  </a:txBody>
                  <a:tcPr marL="60000" marR="60000" marT="40000" marB="4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20</a:t>
                      </a:r>
                    </a:p>
                  </a:txBody>
                  <a:tcPr marL="60000" marR="60000" marT="40000" marB="4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60000" marR="60000" marT="40000" marB="4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24%</a:t>
                      </a:r>
                    </a:p>
                  </a:txBody>
                  <a:tcPr marL="60000" marR="60000" marT="40000" marB="4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$48,012</a:t>
                      </a:r>
                    </a:p>
                  </a:txBody>
                  <a:tcPr marL="60000" marR="60000" marT="40000" marB="40000" anchor="ctr">
                    <a:solidFill>
                      <a:srgbClr val="FFFFFF"/>
                    </a:solidFill>
                  </a:tcPr>
                </a:tc>
              </a:tr>
              <a:tr h="40132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E3-CX-ISE-ESWP</a:t>
                      </a:r>
                    </a:p>
                  </a:txBody>
                  <a:tcPr marL="60000" marR="60000" marT="40000" marB="40000" anchor="ctr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Support Standard SW Support OP for ISE</a:t>
                      </a:r>
                    </a:p>
                  </a:txBody>
                  <a:tcPr marL="60000" marR="60000" marT="40000" marB="40000" anchor="ctr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60000" marR="60000" marT="40000" marB="40000" anchor="ctr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60000" marR="60000" marT="40000" marB="40000" anchor="ctr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23%</a:t>
                      </a:r>
                    </a:p>
                  </a:txBody>
                  <a:tcPr marL="60000" marR="60000" marT="40000" marB="40000" anchor="ctr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$15,736</a:t>
                      </a:r>
                    </a:p>
                  </a:txBody>
                  <a:tcPr marL="60000" marR="60000" marT="40000" marB="40000" anchor="ctr">
                    <a:solidFill>
                      <a:srgbClr val="EEF3F8"/>
                    </a:solidFill>
                  </a:tcPr>
                </a:tc>
              </a:tr>
              <a:tr h="40132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E3-CX-ISE-ENCD</a:t>
                      </a:r>
                    </a:p>
                  </a:txBody>
                  <a:tcPr marL="60000" marR="60000" marT="40000" marB="4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Support Standard  8x7xNCD for ISE</a:t>
                      </a:r>
                    </a:p>
                  </a:txBody>
                  <a:tcPr marL="60000" marR="60000" marT="40000" marB="4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60000" marR="60000" marT="40000" marB="4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60000" marR="60000" marT="40000" marB="4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23%</a:t>
                      </a:r>
                    </a:p>
                  </a:txBody>
                  <a:tcPr marL="60000" marR="60000" marT="40000" marB="4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$0</a:t>
                      </a:r>
                    </a:p>
                  </a:txBody>
                  <a:tcPr marL="60000" marR="60000" marT="40000" marB="40000" anchor="ctr">
                    <a:solidFill>
                      <a:srgbClr val="FFFFFF"/>
                    </a:solidFill>
                  </a:tcPr>
                </a:tc>
              </a:tr>
              <a:tr h="401320">
                <a:tc>
                  <a:txBody>
                    <a:bodyPr wrap="square"/>
                    <a:lstStyle/>
                    <a:p>
                      <a:pPr algn="l">
                        <a:defRPr b="1"/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TOTAL SECURITY</a:t>
                      </a:r>
                    </a:p>
                  </a:txBody>
                  <a:tcPr marL="60000" marR="60000" marT="40000" marB="40000" anchor="ctr">
                    <a:solidFill>
                      <a:srgbClr val="052B4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b="1"/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60000" marR="60000" marT="40000" marB="40000" anchor="ctr">
                    <a:solidFill>
                      <a:srgbClr val="052B4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b="1"/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60000" marR="60000" marT="40000" marB="40000" anchor="ctr">
                    <a:solidFill>
                      <a:srgbClr val="052B4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b="1"/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60000" marR="60000" marT="40000" marB="40000" anchor="ctr">
                    <a:solidFill>
                      <a:srgbClr val="052B4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b="1"/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60000" marR="60000" marT="40000" marB="40000" anchor="ctr">
                    <a:solidFill>
                      <a:srgbClr val="052B4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b="1"/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$191,960</a:t>
                      </a:r>
                    </a:p>
                  </a:txBody>
                  <a:tcPr marL="60000" marR="60000" marT="40000" marB="40000" anchor="ctr">
                    <a:solidFill>
                      <a:srgbClr val="052B4E"/>
                    </a:solidFill>
                  </a:tcPr>
                </a:tc>
              </a:tr>
            </a:tbl>
          </a:graphicData>
        </a:graphic>
      </p:graphicFrame>
      <p:sp>
        <p:nvSpPr>
          <p:cNvPr id="29" name="Rectangle 28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5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20040" y="6656832"/>
            <a:ext cx="7772400" cy="20116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900" b="0">
                <a:solidFill>
                  <a:srgbClr val="FFFFFF"/>
                </a:solidFill>
                <a:latin typeface="Calibri"/>
              </a:rPr>
              <a:t>CISCO CONFIDENTIAL  |  Indicative pricing as of 08-Sep-2026  |  Not an approved Cisco quote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92640" y="6656832"/>
            <a:ext cx="2194560" cy="20116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900" b="0">
                <a:solidFill>
                  <a:srgbClr val="FFFFFF"/>
                </a:solidFill>
                <a:latin typeface="Calibri"/>
              </a:rPr>
              <a:t>Hallmark CX EA  ·  13 / 18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05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1078992"/>
          </a:xfrm>
          <a:prstGeom prst="rect">
            <a:avLst/>
          </a:prstGeom>
          <a:solidFill>
            <a:srgbClr val="C4A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09728"/>
            <a:ext cx="1133856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>
                <a:solidFill>
                  <a:srgbClr val="C4A35A"/>
                </a:solidFill>
                <a:latin typeface="Calibri"/>
              </a:rPr>
              <a:t>COLLABORATION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29184"/>
            <a:ext cx="1133856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CX only — Employee Experience support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713232"/>
            <a:ext cx="1133856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00BCEB"/>
                </a:solidFill>
                <a:latin typeface="Calibri"/>
              </a:rPr>
              <a:t>No new Collaboration software on this proposal  ·  Services TCV $359,682  ·  Full commitment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1325880"/>
            <a:ext cx="11430000" cy="1234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444752"/>
            <a:ext cx="109728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052B4E"/>
                </a:solidFill>
                <a:latin typeface="Calibri"/>
              </a:rPr>
              <a:t>What is in scope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1783080"/>
            <a:ext cx="10972800" cy="5943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5A6472"/>
                </a:solidFill>
                <a:latin typeface="Calibri"/>
              </a:rPr>
              <a:t>This EA continues Cisco Support Standard on the existing Collaboration installed base (Employee Experience). There is no Webex or Calling software subscription on Proposal 9325586. Uncovered-asset credits and a program-migration incentive reduce net CX versus list.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2788920"/>
          <a:ext cx="11521439" cy="196596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965960"/>
                <a:gridCol w="3246120"/>
                <a:gridCol w="777240"/>
                <a:gridCol w="731520"/>
                <a:gridCol w="1234440"/>
                <a:gridCol w="1691640"/>
                <a:gridCol w="1874519"/>
              </a:tblGrid>
              <a:tr h="491490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PID</a:t>
                      </a:r>
                    </a:p>
                  </a:txBody>
                  <a:tcPr marL="60000" marR="60000" marT="40000" marB="40000" anchor="ctr">
                    <a:solidFill>
                      <a:srgbClr val="052B4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DESCRIPTION</a:t>
                      </a:r>
                    </a:p>
                  </a:txBody>
                  <a:tcPr marL="60000" marR="60000" marT="40000" marB="40000" anchor="ctr">
                    <a:solidFill>
                      <a:srgbClr val="052B4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IB</a:t>
                      </a:r>
                    </a:p>
                  </a:txBody>
                  <a:tcPr marL="60000" marR="60000" marT="40000" marB="40000" anchor="ctr">
                    <a:solidFill>
                      <a:srgbClr val="052B4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QTY</a:t>
                      </a:r>
                    </a:p>
                  </a:txBody>
                  <a:tcPr marL="60000" marR="60000" marT="40000" marB="40000" anchor="ctr">
                    <a:solidFill>
                      <a:srgbClr val="052B4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LIST</a:t>
                      </a:r>
                    </a:p>
                  </a:txBody>
                  <a:tcPr marL="60000" marR="60000" marT="40000" marB="40000" anchor="ctr">
                    <a:solidFill>
                      <a:srgbClr val="052B4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CREDITS / OTD</a:t>
                      </a:r>
                    </a:p>
                  </a:txBody>
                  <a:tcPr marL="60000" marR="60000" marT="40000" marB="40000" anchor="ctr">
                    <a:solidFill>
                      <a:srgbClr val="052B4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NET TCV</a:t>
                      </a:r>
                    </a:p>
                  </a:txBody>
                  <a:tcPr marL="60000" marR="60000" marT="40000" marB="40000" anchor="ctr">
                    <a:solidFill>
                      <a:srgbClr val="052B4E"/>
                    </a:solidFill>
                  </a:tcPr>
                </a:tc>
              </a:tr>
              <a:tr h="49149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E3-CX-COL-ENBD</a:t>
                      </a:r>
                    </a:p>
                  </a:txBody>
                  <a:tcPr marL="60000" marR="60000" marT="40000" marB="4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Support Standard  8x5xNBD  COLLAB</a:t>
                      </a:r>
                    </a:p>
                  </a:txBody>
                  <a:tcPr marL="60000" marR="60000" marT="40000" marB="4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110</a:t>
                      </a:r>
                    </a:p>
                  </a:txBody>
                  <a:tcPr marL="60000" marR="60000" marT="40000" marB="4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60000" marR="60000" marT="40000" marB="4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$414,060</a:t>
                      </a:r>
                    </a:p>
                  </a:txBody>
                  <a:tcPr marL="60000" marR="60000" marT="40000" marB="4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Migration $44,362</a:t>
                      </a:r>
                    </a:p>
                  </a:txBody>
                  <a:tcPr marL="60000" marR="60000" marT="40000" marB="4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$273,770</a:t>
                      </a:r>
                    </a:p>
                  </a:txBody>
                  <a:tcPr marL="60000" marR="60000" marT="40000" marB="40000" anchor="ctr">
                    <a:solidFill>
                      <a:srgbClr val="FFFFFF"/>
                    </a:solidFill>
                  </a:tcPr>
                </a:tc>
              </a:tr>
              <a:tr h="49149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E3-CX-COL-ENCD</a:t>
                      </a:r>
                    </a:p>
                  </a:txBody>
                  <a:tcPr marL="60000" marR="60000" marT="40000" marB="40000" anchor="ctr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Support Standard  8x7xNCD  COLLAB</a:t>
                      </a:r>
                    </a:p>
                  </a:txBody>
                  <a:tcPr marL="60000" marR="60000" marT="40000" marB="40000" anchor="ctr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92</a:t>
                      </a:r>
                    </a:p>
                  </a:txBody>
                  <a:tcPr marL="60000" marR="60000" marT="40000" marB="40000" anchor="ctr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60000" marR="60000" marT="40000" marB="40000" anchor="ctr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$145,359</a:t>
                      </a:r>
                    </a:p>
                  </a:txBody>
                  <a:tcPr marL="60000" marR="60000" marT="40000" marB="40000" anchor="ctr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Uncovered $21,425</a:t>
                      </a:r>
                    </a:p>
                  </a:txBody>
                  <a:tcPr marL="60000" marR="60000" marT="40000" marB="40000" anchor="ctr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$85,912</a:t>
                      </a:r>
                    </a:p>
                  </a:txBody>
                  <a:tcPr marL="60000" marR="60000" marT="40000" marB="40000" anchor="ctr">
                    <a:solidFill>
                      <a:srgbClr val="EEF3F8"/>
                    </a:solidFill>
                  </a:tcPr>
                </a:tc>
              </a:tr>
              <a:tr h="491490">
                <a:tc>
                  <a:txBody>
                    <a:bodyPr wrap="square"/>
                    <a:lstStyle/>
                    <a:p>
                      <a:pPr algn="l">
                        <a:defRPr b="1"/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TOTAL</a:t>
                      </a:r>
                    </a:p>
                  </a:txBody>
                  <a:tcPr marL="60000" marR="60000" marT="40000" marB="40000" anchor="ctr">
                    <a:solidFill>
                      <a:srgbClr val="052B4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b="1"/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60000" marR="60000" marT="40000" marB="40000" anchor="ctr">
                    <a:solidFill>
                      <a:srgbClr val="052B4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b="1"/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202</a:t>
                      </a:r>
                    </a:p>
                  </a:txBody>
                  <a:tcPr marL="60000" marR="60000" marT="40000" marB="40000" anchor="ctr">
                    <a:solidFill>
                      <a:srgbClr val="052B4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b="1"/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60000" marR="60000" marT="40000" marB="40000" anchor="ctr">
                    <a:solidFill>
                      <a:srgbClr val="052B4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b="1"/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$559,419</a:t>
                      </a:r>
                    </a:p>
                  </a:txBody>
                  <a:tcPr marL="60000" marR="60000" marT="40000" marB="40000" anchor="ctr">
                    <a:solidFill>
                      <a:srgbClr val="052B4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b="1"/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60000" marR="60000" marT="40000" marB="40000" anchor="ctr">
                    <a:solidFill>
                      <a:srgbClr val="052B4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b="1"/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$359,682</a:t>
                      </a:r>
                    </a:p>
                  </a:txBody>
                  <a:tcPr marL="60000" marR="60000" marT="40000" marB="40000" anchor="ctr">
                    <a:solidFill>
                      <a:srgbClr val="052B4E"/>
                    </a:solidFill>
                  </a:tcPr>
                </a:tc>
              </a:tr>
            </a:tbl>
          </a:graphicData>
        </a:graphic>
      </p:graphicFrame>
      <p:sp>
        <p:nvSpPr>
          <p:cNvPr id="12" name="Rounded Rectangle 11"/>
          <p:cNvSpPr/>
          <p:nvPr/>
        </p:nvSpPr>
        <p:spPr>
          <a:xfrm>
            <a:off x="365760" y="4983480"/>
            <a:ext cx="1143000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5102352"/>
            <a:ext cx="109728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>
                <a:solidFill>
                  <a:srgbClr val="052B4E"/>
                </a:solidFill>
                <a:latin typeface="Calibri"/>
              </a:rPr>
              <a:t>Why keep Collaboration CX on the EA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5440680"/>
            <a:ext cx="1097280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5A6472"/>
                </a:solidFill>
                <a:latin typeface="Calibri"/>
              </a:rPr>
              <a:t>Folding 202 Collaboration support assets into the same 36-month EA avoids a separate TAC/hardware contract, applies EA service discounts (23–26%) plus IB credits, and keeps one partner (WWT) and one book date for campus, DC, ISE, and collab hardware support.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5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20040" y="6656832"/>
            <a:ext cx="7772400" cy="20116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900" b="0">
                <a:solidFill>
                  <a:srgbClr val="FFFFFF"/>
                </a:solidFill>
                <a:latin typeface="Calibri"/>
              </a:rPr>
              <a:t>CISCO CONFIDENTIAL  |  Indicative pricing as of 08-Sep-2026  |  Not an approved Cisco quote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92640" y="6656832"/>
            <a:ext cx="2194560" cy="20116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900" b="0">
                <a:solidFill>
                  <a:srgbClr val="FFFFFF"/>
                </a:solidFill>
                <a:latin typeface="Calibri"/>
              </a:rPr>
              <a:t>Hallmark CX EA  ·  14 / 18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05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1078992"/>
          </a:xfrm>
          <a:prstGeom prst="rect">
            <a:avLst/>
          </a:prstGeom>
          <a:solidFill>
            <a:srgbClr val="C4A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09728"/>
            <a:ext cx="1133856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>
                <a:solidFill>
                  <a:srgbClr val="C4A35A"/>
                </a:solidFill>
                <a:latin typeface="Calibri"/>
              </a:rPr>
              <a:t>COMMERCIAL SCHEDULE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29184"/>
            <a:ext cx="1133856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Annual billing over 36 months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713232"/>
            <a:ext cx="1133856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00BCEB"/>
                </a:solidFill>
                <a:latin typeface="Calibri"/>
              </a:rPr>
              <a:t>Even annual cash view of net TCV — actual invoices follow Cisco EA billing rules and true-forward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11480" y="1325880"/>
          <a:ext cx="11338560" cy="233172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017520"/>
                <a:gridCol w="2057400"/>
                <a:gridCol w="2057400"/>
                <a:gridCol w="2103120"/>
                <a:gridCol w="2103120"/>
              </a:tblGrid>
              <a:tr h="466344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PERIOD</a:t>
                      </a:r>
                    </a:p>
                  </a:txBody>
                  <a:tcPr marL="60000" marR="60000" marT="40000" marB="40000" anchor="ctr">
                    <a:solidFill>
                      <a:srgbClr val="052B4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SOFTWARE</a:t>
                      </a:r>
                    </a:p>
                  </a:txBody>
                  <a:tcPr marL="60000" marR="60000" marT="40000" marB="40000" anchor="ctr">
                    <a:solidFill>
                      <a:srgbClr val="052B4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SERVICES</a:t>
                      </a:r>
                    </a:p>
                  </a:txBody>
                  <a:tcPr marL="60000" marR="60000" marT="40000" marB="40000" anchor="ctr">
                    <a:solidFill>
                      <a:srgbClr val="052B4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ANNUAL NET</a:t>
                      </a:r>
                    </a:p>
                  </a:txBody>
                  <a:tcPr marL="60000" marR="60000" marT="40000" marB="40000" anchor="ctr">
                    <a:solidFill>
                      <a:srgbClr val="052B4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CUMULATIVE</a:t>
                      </a:r>
                    </a:p>
                  </a:txBody>
                  <a:tcPr marL="60000" marR="60000" marT="40000" marB="40000" anchor="ctr">
                    <a:solidFill>
                      <a:srgbClr val="052B4E"/>
                    </a:solidFill>
                  </a:tcPr>
                </a:tc>
              </a:tr>
              <a:tr h="46634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Year 1  (from 16 Oct 2026)</a:t>
                      </a:r>
                    </a:p>
                  </a:txBody>
                  <a:tcPr marL="60000" marR="60000" marT="40000" marB="4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$514,609</a:t>
                      </a:r>
                    </a:p>
                  </a:txBody>
                  <a:tcPr marL="60000" marR="60000" marT="40000" marB="4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$534,254</a:t>
                      </a:r>
                    </a:p>
                  </a:txBody>
                  <a:tcPr marL="60000" marR="60000" marT="40000" marB="4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$1,048,863</a:t>
                      </a:r>
                    </a:p>
                  </a:txBody>
                  <a:tcPr marL="60000" marR="60000" marT="40000" marB="4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$1,048,863</a:t>
                      </a:r>
                    </a:p>
                  </a:txBody>
                  <a:tcPr marL="60000" marR="60000" marT="40000" marB="40000" anchor="ctr">
                    <a:solidFill>
                      <a:srgbClr val="FFFFFF"/>
                    </a:solidFill>
                  </a:tcPr>
                </a:tc>
              </a:tr>
              <a:tr h="46634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Year 2</a:t>
                      </a:r>
                    </a:p>
                  </a:txBody>
                  <a:tcPr marL="60000" marR="60000" marT="40000" marB="40000" anchor="ctr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$514,609</a:t>
                      </a:r>
                    </a:p>
                  </a:txBody>
                  <a:tcPr marL="60000" marR="60000" marT="40000" marB="40000" anchor="ctr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$534,254</a:t>
                      </a:r>
                    </a:p>
                  </a:txBody>
                  <a:tcPr marL="60000" marR="60000" marT="40000" marB="40000" anchor="ctr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$1,048,863</a:t>
                      </a:r>
                    </a:p>
                  </a:txBody>
                  <a:tcPr marL="60000" marR="60000" marT="40000" marB="40000" anchor="ctr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$2,097,727</a:t>
                      </a:r>
                    </a:p>
                  </a:txBody>
                  <a:tcPr marL="60000" marR="60000" marT="40000" marB="40000" anchor="ctr">
                    <a:solidFill>
                      <a:srgbClr val="EEF3F8"/>
                    </a:solidFill>
                  </a:tcPr>
                </a:tc>
              </a:tr>
              <a:tr h="46634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Year 3</a:t>
                      </a:r>
                    </a:p>
                  </a:txBody>
                  <a:tcPr marL="60000" marR="60000" marT="40000" marB="4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$514,609</a:t>
                      </a:r>
                    </a:p>
                  </a:txBody>
                  <a:tcPr marL="60000" marR="60000" marT="40000" marB="4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$534,254</a:t>
                      </a:r>
                    </a:p>
                  </a:txBody>
                  <a:tcPr marL="60000" marR="60000" marT="40000" marB="4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$1,048,863</a:t>
                      </a:r>
                    </a:p>
                  </a:txBody>
                  <a:tcPr marL="60000" marR="60000" marT="40000" marB="4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$3,146,590</a:t>
                      </a:r>
                    </a:p>
                  </a:txBody>
                  <a:tcPr marL="60000" marR="60000" marT="40000" marB="40000" anchor="ctr">
                    <a:solidFill>
                      <a:srgbClr val="FFFFFF"/>
                    </a:solidFill>
                  </a:tcPr>
                </a:tc>
              </a:tr>
              <a:tr h="466344">
                <a:tc>
                  <a:txBody>
                    <a:bodyPr wrap="square"/>
                    <a:lstStyle/>
                    <a:p>
                      <a:pPr algn="l">
                        <a:defRPr b="1"/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3-YEAR TCV</a:t>
                      </a:r>
                    </a:p>
                  </a:txBody>
                  <a:tcPr marL="60000" marR="60000" marT="40000" marB="40000" anchor="ctr">
                    <a:solidFill>
                      <a:srgbClr val="052B4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b="1"/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$1,543,828</a:t>
                      </a:r>
                    </a:p>
                  </a:txBody>
                  <a:tcPr marL="60000" marR="60000" marT="40000" marB="40000" anchor="ctr">
                    <a:solidFill>
                      <a:srgbClr val="052B4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b="1"/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$1,602,762</a:t>
                      </a:r>
                    </a:p>
                  </a:txBody>
                  <a:tcPr marL="60000" marR="60000" marT="40000" marB="40000" anchor="ctr">
                    <a:solidFill>
                      <a:srgbClr val="052B4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b="1"/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$3,146,590</a:t>
                      </a:r>
                    </a:p>
                  </a:txBody>
                  <a:tcPr marL="60000" marR="60000" marT="40000" marB="40000" anchor="ctr">
                    <a:solidFill>
                      <a:srgbClr val="052B4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b="1"/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$3,146,590</a:t>
                      </a:r>
                    </a:p>
                  </a:txBody>
                  <a:tcPr marL="60000" marR="60000" marT="40000" marB="40000" anchor="ctr">
                    <a:solidFill>
                      <a:srgbClr val="052B4E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411480" y="3886200"/>
            <a:ext cx="3657600" cy="24231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11480" y="3886200"/>
            <a:ext cx="3657600" cy="73152"/>
          </a:xfrm>
          <a:prstGeom prst="rect">
            <a:avLst/>
          </a:prstGeom>
          <a:solidFill>
            <a:srgbClr val="C4A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4069080"/>
            <a:ext cx="329184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>
                <a:solidFill>
                  <a:srgbClr val="052B4E"/>
                </a:solidFill>
                <a:latin typeface="Calibri"/>
              </a:rPr>
              <a:t>True-forward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4480560"/>
            <a:ext cx="3291840" cy="1645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5A6472"/>
                </a:solidFill>
                <a:latin typeface="Calibri"/>
              </a:rPr>
              <a:t>EA quantities are a floor. Additional consumption during the year is licensed at EA rates and billed at the annual true-forward — no surprise list-price true-ups.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51960" y="3886200"/>
            <a:ext cx="3657600" cy="24231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51960" y="3886200"/>
            <a:ext cx="3657600" cy="73152"/>
          </a:xfrm>
          <a:prstGeom prst="rect">
            <a:avLst/>
          </a:prstGeom>
          <a:solidFill>
            <a:srgbClr val="049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34840" y="4069080"/>
            <a:ext cx="329184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>
                <a:solidFill>
                  <a:srgbClr val="052B4E"/>
                </a:solidFill>
                <a:latin typeface="Calibri"/>
              </a:rPr>
              <a:t>IB credits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34840" y="4480560"/>
            <a:ext cx="3291840" cy="1645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5A6472"/>
                </a:solidFill>
                <a:latin typeface="Calibri"/>
              </a:rPr>
              <a:t>One-time discounts ($475K) and uncovered-asset credits are already netted into TCV. They are not an extra year-1 concession on top of these figures.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92440" y="3886200"/>
            <a:ext cx="3657600" cy="24231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92440" y="3886200"/>
            <a:ext cx="3657600" cy="73152"/>
          </a:xfrm>
          <a:prstGeom prst="rect">
            <a:avLst/>
          </a:prstGeom>
          <a:solidFill>
            <a:srgbClr val="049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75320" y="4069080"/>
            <a:ext cx="329184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>
                <a:solidFill>
                  <a:srgbClr val="052B4E"/>
                </a:solidFill>
                <a:latin typeface="Calibri"/>
              </a:rPr>
              <a:t>Partner path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75320" y="4480560"/>
            <a:ext cx="3291840" cy="1645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5A6472"/>
                </a:solidFill>
                <a:latin typeface="Calibri"/>
              </a:rPr>
              <a:t>WWT is reseller of record (services bill-to 1001363275). Cisco AM Robin Randolph sponsors the deal through expected book date 16 Oct 2026.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5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20040" y="6656832"/>
            <a:ext cx="7772400" cy="20116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900" b="0">
                <a:solidFill>
                  <a:srgbClr val="FFFFFF"/>
                </a:solidFill>
                <a:latin typeface="Calibri"/>
              </a:rPr>
              <a:t>CISCO CONFIDENTIAL  |  Indicative pricing as of 08-Sep-2026  |  Not an approved Cisco quote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92640" y="6656832"/>
            <a:ext cx="2194560" cy="20116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900" b="0">
                <a:solidFill>
                  <a:srgbClr val="FFFFFF"/>
                </a:solidFill>
                <a:latin typeface="Calibri"/>
              </a:rPr>
              <a:t>Hallmark CX EA  ·  15 / 18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05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1078992"/>
          </a:xfrm>
          <a:prstGeom prst="rect">
            <a:avLst/>
          </a:prstGeom>
          <a:solidFill>
            <a:srgbClr val="C4A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09728"/>
            <a:ext cx="1133856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>
                <a:solidFill>
                  <a:srgbClr val="C4A35A"/>
                </a:solidFill>
                <a:latin typeface="Calibri"/>
              </a:rPr>
              <a:t>VALUE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29184"/>
            <a:ext cx="1133856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Discount architecture versus list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713232"/>
            <a:ext cx="1133856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00BCEB"/>
                </a:solidFill>
                <a:latin typeface="Calibri"/>
              </a:rPr>
              <a:t>List $6,987,826  ·  Programmatic + subscription discounts $3,366,176  ·  One-time $475,060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11480" y="1298448"/>
          <a:ext cx="11338560" cy="260604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108960"/>
                <a:gridCol w="2057400"/>
                <a:gridCol w="2057400"/>
                <a:gridCol w="2057400"/>
                <a:gridCol w="2057400"/>
              </a:tblGrid>
              <a:tr h="43434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PORTFOLIO</a:t>
                      </a:r>
                    </a:p>
                  </a:txBody>
                  <a:tcPr marL="60000" marR="60000" marT="40000" marB="40000" anchor="ctr">
                    <a:solidFill>
                      <a:srgbClr val="052B4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LIST</a:t>
                      </a:r>
                    </a:p>
                  </a:txBody>
                  <a:tcPr marL="60000" marR="60000" marT="40000" marB="40000" anchor="ctr">
                    <a:solidFill>
                      <a:srgbClr val="052B4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NET</a:t>
                      </a:r>
                    </a:p>
                  </a:txBody>
                  <a:tcPr marL="60000" marR="60000" marT="40000" marB="40000" anchor="ctr">
                    <a:solidFill>
                      <a:srgbClr val="052B4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SAVINGS</a:t>
                      </a:r>
                    </a:p>
                  </a:txBody>
                  <a:tcPr marL="60000" marR="60000" marT="40000" marB="40000" anchor="ctr">
                    <a:solidFill>
                      <a:srgbClr val="052B4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EFFECTIVE %</a:t>
                      </a:r>
                    </a:p>
                  </a:txBody>
                  <a:tcPr marL="60000" marR="60000" marT="40000" marB="40000" anchor="ctr">
                    <a:solidFill>
                      <a:srgbClr val="052B4E"/>
                    </a:solidFill>
                  </a:tcPr>
                </a:tc>
              </a:tr>
              <a:tr h="43434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Networking software</a:t>
                      </a:r>
                    </a:p>
                  </a:txBody>
                  <a:tcPr marL="60000" marR="60000" marT="40000" marB="4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$3,252,178</a:t>
                      </a:r>
                    </a:p>
                  </a:txBody>
                  <a:tcPr marL="60000" marR="60000" marT="40000" marB="4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$1,030,044</a:t>
                      </a:r>
                    </a:p>
                  </a:txBody>
                  <a:tcPr marL="60000" marR="60000" marT="40000" marB="4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$2,222,134</a:t>
                      </a:r>
                    </a:p>
                  </a:txBody>
                  <a:tcPr marL="60000" marR="60000" marT="40000" marB="4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68%</a:t>
                      </a:r>
                    </a:p>
                  </a:txBody>
                  <a:tcPr marL="60000" marR="60000" marT="40000" marB="40000" anchor="ctr">
                    <a:solidFill>
                      <a:srgbClr val="FFFFFF"/>
                    </a:solidFill>
                  </a:tcPr>
                </a:tc>
              </a:tr>
              <a:tr h="43434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Applications software</a:t>
                      </a:r>
                    </a:p>
                  </a:txBody>
                  <a:tcPr marL="60000" marR="60000" marT="40000" marB="40000" anchor="ctr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$650,862</a:t>
                      </a:r>
                    </a:p>
                  </a:txBody>
                  <a:tcPr marL="60000" marR="60000" marT="40000" marB="40000" anchor="ctr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$437,058</a:t>
                      </a:r>
                    </a:p>
                  </a:txBody>
                  <a:tcPr marL="60000" marR="60000" marT="40000" marB="40000" anchor="ctr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$213,804</a:t>
                      </a:r>
                    </a:p>
                  </a:txBody>
                  <a:tcPr marL="60000" marR="60000" marT="40000" marB="40000" anchor="ctr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33%</a:t>
                      </a:r>
                    </a:p>
                  </a:txBody>
                  <a:tcPr marL="60000" marR="60000" marT="40000" marB="40000" anchor="ctr">
                    <a:solidFill>
                      <a:srgbClr val="EEF3F8"/>
                    </a:solidFill>
                  </a:tcPr>
                </a:tc>
              </a:tr>
              <a:tr h="43434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Security software</a:t>
                      </a:r>
                    </a:p>
                  </a:txBody>
                  <a:tcPr marL="60000" marR="60000" marT="40000" marB="4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$136,244</a:t>
                      </a:r>
                    </a:p>
                  </a:txBody>
                  <a:tcPr marL="60000" marR="60000" marT="40000" marB="4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$76,727</a:t>
                      </a:r>
                    </a:p>
                  </a:txBody>
                  <a:tcPr marL="60000" marR="60000" marT="40000" marB="4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$59,517</a:t>
                      </a:r>
                    </a:p>
                  </a:txBody>
                  <a:tcPr marL="60000" marR="60000" marT="40000" marB="4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44%</a:t>
                      </a:r>
                    </a:p>
                  </a:txBody>
                  <a:tcPr marL="60000" marR="60000" marT="40000" marB="40000" anchor="ctr">
                    <a:solidFill>
                      <a:srgbClr val="FFFFFF"/>
                    </a:solidFill>
                  </a:tcPr>
                </a:tc>
              </a:tr>
              <a:tr h="43434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CX services (all)</a:t>
                      </a:r>
                    </a:p>
                  </a:txBody>
                  <a:tcPr marL="60000" marR="60000" marT="40000" marB="40000" anchor="ctr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$2,948,543</a:t>
                      </a:r>
                    </a:p>
                  </a:txBody>
                  <a:tcPr marL="60000" marR="60000" marT="40000" marB="40000" anchor="ctr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$1,602,762</a:t>
                      </a:r>
                    </a:p>
                  </a:txBody>
                  <a:tcPr marL="60000" marR="60000" marT="40000" marB="40000" anchor="ctr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$1,345,781</a:t>
                      </a:r>
                    </a:p>
                  </a:txBody>
                  <a:tcPr marL="60000" marR="60000" marT="40000" marB="40000" anchor="ctr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46%</a:t>
                      </a:r>
                    </a:p>
                  </a:txBody>
                  <a:tcPr marL="60000" marR="60000" marT="40000" marB="40000" anchor="ctr">
                    <a:solidFill>
                      <a:srgbClr val="EEF3F8"/>
                    </a:solidFill>
                  </a:tcPr>
                </a:tc>
              </a:tr>
              <a:tr h="434340">
                <a:tc>
                  <a:txBody>
                    <a:bodyPr wrap="square"/>
                    <a:lstStyle/>
                    <a:p>
                      <a:pPr algn="l">
                        <a:defRPr b="1"/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TOTAL</a:t>
                      </a:r>
                    </a:p>
                  </a:txBody>
                  <a:tcPr marL="60000" marR="60000" marT="40000" marB="40000" anchor="ctr">
                    <a:solidFill>
                      <a:srgbClr val="052B4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b="1"/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$6,987,826</a:t>
                      </a:r>
                    </a:p>
                  </a:txBody>
                  <a:tcPr marL="60000" marR="60000" marT="40000" marB="40000" anchor="ctr">
                    <a:solidFill>
                      <a:srgbClr val="052B4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b="1"/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$3,146,590</a:t>
                      </a:r>
                    </a:p>
                  </a:txBody>
                  <a:tcPr marL="60000" marR="60000" marT="40000" marB="40000" anchor="ctr">
                    <a:solidFill>
                      <a:srgbClr val="052B4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b="1"/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$3,841,236</a:t>
                      </a:r>
                    </a:p>
                  </a:txBody>
                  <a:tcPr marL="60000" marR="60000" marT="40000" marB="40000" anchor="ctr">
                    <a:solidFill>
                      <a:srgbClr val="052B4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b="1"/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55%</a:t>
                      </a:r>
                    </a:p>
                  </a:txBody>
                  <a:tcPr marL="60000" marR="60000" marT="40000" marB="40000" anchor="ctr">
                    <a:solidFill>
                      <a:srgbClr val="052B4E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411480" y="4114800"/>
            <a:ext cx="3657600" cy="2194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4251960"/>
            <a:ext cx="329184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052B4E"/>
                </a:solidFill>
                <a:latin typeface="Calibri"/>
              </a:rPr>
              <a:t>68% Networking software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4709160"/>
            <a:ext cx="3291840" cy="1371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5A6472"/>
                </a:solidFill>
                <a:latin typeface="Calibri"/>
              </a:rPr>
              <a:t>EA 3.0 suite discount (typically 68% after 10% programmatic) on Catalyst, Nexus, Meraki, and Spaces — the primary savings engine.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51960" y="4114800"/>
            <a:ext cx="3657600" cy="2194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34840" y="4251960"/>
            <a:ext cx="329184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052B4E"/>
                </a:solidFill>
                <a:latin typeface="Calibri"/>
              </a:rPr>
              <a:t>CX at 23–35%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34840" y="4709160"/>
            <a:ext cx="3291840" cy="1371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5A6472"/>
                </a:solidFill>
                <a:latin typeface="Calibri"/>
              </a:rPr>
              <a:t>Support Standard discounts plus program-migration incentives and uncovered-asset credits on switching, Nexus, ISE, and Collaboration.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92440" y="4114800"/>
            <a:ext cx="3657600" cy="2194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75320" y="4251960"/>
            <a:ext cx="329184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052B4E"/>
                </a:solidFill>
                <a:latin typeface="Calibri"/>
              </a:rPr>
              <a:t>Apps at 30–42%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75320" y="4709160"/>
            <a:ext cx="3291840" cy="1371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5A6472"/>
                </a:solidFill>
                <a:latin typeface="Calibri"/>
              </a:rPr>
              <a:t>ThousandEyes 30% and Splunk Cloud 42% subscription discounts on a full-commitment Applications suite.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5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20040" y="6656832"/>
            <a:ext cx="7772400" cy="20116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900" b="0">
                <a:solidFill>
                  <a:srgbClr val="FFFFFF"/>
                </a:solidFill>
                <a:latin typeface="Calibri"/>
              </a:rPr>
              <a:t>CISCO CONFIDENTIAL  |  Indicative pricing as of 08-Sep-2026  |  Not an approved Cisco quote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92640" y="6656832"/>
            <a:ext cx="2194560" cy="20116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900" b="0">
                <a:solidFill>
                  <a:srgbClr val="FFFFFF"/>
                </a:solidFill>
                <a:latin typeface="Calibri"/>
              </a:rPr>
              <a:t>Hallmark CX EA  ·  16 / 18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05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1078992"/>
          </a:xfrm>
          <a:prstGeom prst="rect">
            <a:avLst/>
          </a:prstGeom>
          <a:solidFill>
            <a:srgbClr val="C4A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09728"/>
            <a:ext cx="1133856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>
                <a:solidFill>
                  <a:srgbClr val="C4A35A"/>
                </a:solidFill>
                <a:latin typeface="Calibri"/>
              </a:rPr>
              <a:t>PATH TO BOOK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29184"/>
            <a:ext cx="1133856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Recommended next steps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713232"/>
            <a:ext cx="1133856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00BCEB"/>
                </a:solidFill>
                <a:latin typeface="Calibri"/>
              </a:rPr>
              <a:t>Target book / RSD: 16 October 2026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1325880"/>
            <a:ext cx="3703320" cy="228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48640" y="1527048"/>
            <a:ext cx="438912" cy="438912"/>
          </a:xfrm>
          <a:prstGeom prst="roundRect">
            <a:avLst>
              <a:gd name="adj" fmla="val 8000"/>
            </a:avLst>
          </a:prstGeom>
          <a:solidFill>
            <a:srgbClr val="052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1527048"/>
            <a:ext cx="438912" cy="43891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1581912"/>
            <a:ext cx="27432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052B4E"/>
                </a:solidFill>
                <a:latin typeface="Calibri"/>
              </a:rPr>
              <a:t>Confirm quantities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103120"/>
            <a:ext cx="3337560" cy="13258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5A6472"/>
                </a:solidFill>
                <a:latin typeface="Calibri"/>
              </a:rPr>
              <a:t>Validate Qty Desired vs. IB for Catalyst DNA (especially C3850 x218 and DNA Wireless x525), ISE 3,450/1,100, and ThousandEyes 1,500/1,500.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51960" y="1325880"/>
            <a:ext cx="3703320" cy="228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434840" y="1527048"/>
            <a:ext cx="438912" cy="438912"/>
          </a:xfrm>
          <a:prstGeom prst="roundRect">
            <a:avLst>
              <a:gd name="adj" fmla="val 8000"/>
            </a:avLst>
          </a:prstGeom>
          <a:solidFill>
            <a:srgbClr val="052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34840" y="1527048"/>
            <a:ext cx="438912" cy="43891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83480" y="1581912"/>
            <a:ext cx="27432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052B4E"/>
                </a:solidFill>
                <a:latin typeface="Calibri"/>
              </a:rPr>
              <a:t>Lock suite mix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34840" y="2103120"/>
            <a:ext cx="3337560" cy="13258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5A6472"/>
                </a:solidFill>
                <a:latin typeface="Calibri"/>
              </a:rPr>
              <a:t>Keep Full commitment on core suites; confirm Partial is still correct for Spaces ACT and Meraki cameras.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38160" y="1325880"/>
            <a:ext cx="3703320" cy="228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321040" y="1527048"/>
            <a:ext cx="438912" cy="438912"/>
          </a:xfrm>
          <a:prstGeom prst="roundRect">
            <a:avLst>
              <a:gd name="adj" fmla="val 8000"/>
            </a:avLst>
          </a:prstGeom>
          <a:solidFill>
            <a:srgbClr val="052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21040" y="1527048"/>
            <a:ext cx="438912" cy="43891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69680" y="1581912"/>
            <a:ext cx="27432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052B4E"/>
                </a:solidFill>
                <a:latin typeface="Calibri"/>
              </a:rPr>
              <a:t>WWT quote path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21040" y="2103120"/>
            <a:ext cx="3337560" cy="13258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5A6472"/>
                </a:solidFill>
                <a:latin typeface="Calibri"/>
              </a:rPr>
              <a:t>Convert this EAMP estimate to a WWT / Cisco approved quote. This file is indicative only.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65760" y="3794760"/>
            <a:ext cx="3703320" cy="228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548640" y="3995928"/>
            <a:ext cx="438912" cy="438912"/>
          </a:xfrm>
          <a:prstGeom prst="roundRect">
            <a:avLst>
              <a:gd name="adj" fmla="val 8000"/>
            </a:avLst>
          </a:prstGeom>
          <a:solidFill>
            <a:srgbClr val="052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8640" y="3995928"/>
            <a:ext cx="438912" cy="43891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7280" y="4050792"/>
            <a:ext cx="27432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052B4E"/>
                </a:solidFill>
                <a:latin typeface="Calibri"/>
              </a:rPr>
              <a:t>Smart Account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4572000"/>
            <a:ext cx="3337560" cy="13258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5A6472"/>
                </a:solidFill>
                <a:latin typeface="Calibri"/>
              </a:rPr>
              <a:t>Confirm HALLMARK CARDS, INCORPORATED Smart Account is the entitlement destination before book.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251960" y="3794760"/>
            <a:ext cx="3703320" cy="228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4434840" y="3995928"/>
            <a:ext cx="438912" cy="438912"/>
          </a:xfrm>
          <a:prstGeom prst="roundRect">
            <a:avLst>
              <a:gd name="adj" fmla="val 8000"/>
            </a:avLst>
          </a:prstGeom>
          <a:solidFill>
            <a:srgbClr val="052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434840" y="3995928"/>
            <a:ext cx="438912" cy="43891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983480" y="4050792"/>
            <a:ext cx="27432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052B4E"/>
                </a:solidFill>
                <a:latin typeface="Calibri"/>
              </a:rPr>
              <a:t>Legal / EA paper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34840" y="4572000"/>
            <a:ext cx="3337560" cy="13258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5A6472"/>
                </a:solidFill>
                <a:latin typeface="Calibri"/>
              </a:rPr>
              <a:t>Standard Cisco EA 3.0 terms, true-forward, and CX service descriptions via WWT.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138160" y="3794760"/>
            <a:ext cx="3703320" cy="228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8321040" y="3995928"/>
            <a:ext cx="438912" cy="438912"/>
          </a:xfrm>
          <a:prstGeom prst="roundRect">
            <a:avLst>
              <a:gd name="adj" fmla="val 8000"/>
            </a:avLst>
          </a:prstGeom>
          <a:solidFill>
            <a:srgbClr val="052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321040" y="3995928"/>
            <a:ext cx="438912" cy="43891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869680" y="4050792"/>
            <a:ext cx="27432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052B4E"/>
                </a:solidFill>
                <a:latin typeface="Calibri"/>
              </a:rPr>
              <a:t>Book 16 Oct 2026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21040" y="4572000"/>
            <a:ext cx="3337560" cy="13258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5A6472"/>
                </a:solidFill>
                <a:latin typeface="Calibri"/>
              </a:rPr>
              <a:t>Align PO, annual billing, and RSD so software and CX start together.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5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20040" y="6656832"/>
            <a:ext cx="7772400" cy="20116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900" b="0">
                <a:solidFill>
                  <a:srgbClr val="FFFFFF"/>
                </a:solidFill>
                <a:latin typeface="Calibri"/>
              </a:rPr>
              <a:t>CISCO CONFIDENTIAL  |  Indicative pricing as of 08-Sep-2026  |  Not an approved Cisco quote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692640" y="6656832"/>
            <a:ext cx="2194560" cy="20116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900" b="0">
                <a:solidFill>
                  <a:srgbClr val="FFFFFF"/>
                </a:solidFill>
                <a:latin typeface="Calibri"/>
              </a:rPr>
              <a:t>Hallmark CX EA  ·  17 / 18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4A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9728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C4A35A"/>
                </a:solidFill>
                <a:latin typeface="Calibri"/>
              </a:rPr>
              <a:t>HALLMARK CX EA  ·  PROPOSAL 9325586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143000"/>
            <a:ext cx="109728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Ready when Hallmark is.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74519"/>
            <a:ext cx="1097280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0">
                <a:solidFill>
                  <a:srgbClr val="00BCEB"/>
                </a:solidFill>
                <a:latin typeface="Calibri"/>
              </a:rPr>
              <a:t>A 36-month Enterprise Agreement covering campus, data center, Meraki, Spaces,
ISE, Splunk, ThousandEyes, and Cisco CX — net $3.15M versus $6.99M list.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743200"/>
            <a:ext cx="3383280" cy="54864"/>
          </a:xfrm>
          <a:prstGeom prst="rect">
            <a:avLst/>
          </a:prstGeom>
          <a:solidFill>
            <a:srgbClr val="C4A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926080"/>
            <a:ext cx="338328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C4A35A"/>
                </a:solidFill>
                <a:latin typeface="Calibri"/>
              </a:rPr>
              <a:t>CUSTOMER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218688"/>
            <a:ext cx="3383280" cy="12801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FFFFFF"/>
                </a:solidFill>
                <a:latin typeface="Calibri"/>
              </a:rPr>
              <a:t>Hallmark Cards, Incorporated
2501 McGee Traffic Way
Kansas City, MO 64141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43400" y="2743200"/>
            <a:ext cx="3383280" cy="54864"/>
          </a:xfrm>
          <a:prstGeom prst="rect">
            <a:avLst/>
          </a:prstGeom>
          <a:solidFill>
            <a:srgbClr val="C4A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43400" y="2926080"/>
            <a:ext cx="338328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C4A35A"/>
                </a:solidFill>
                <a:latin typeface="Calibri"/>
              </a:rPr>
              <a:t>PARTNER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43400" y="3218688"/>
            <a:ext cx="3383280" cy="12801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FFFFFF"/>
                </a:solidFill>
                <a:latin typeface="Calibri"/>
              </a:rPr>
              <a:t>World Wide Technology, Inc
Reseller of record
Services bill-to 1001363275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46720" y="2743200"/>
            <a:ext cx="3383280" cy="54864"/>
          </a:xfrm>
          <a:prstGeom prst="rect">
            <a:avLst/>
          </a:prstGeom>
          <a:solidFill>
            <a:srgbClr val="C4A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20" y="2926080"/>
            <a:ext cx="338328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C4A35A"/>
                </a:solidFill>
                <a:latin typeface="Calibri"/>
              </a:rPr>
              <a:t>CISCO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20" y="3218688"/>
            <a:ext cx="3383280" cy="12801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FFFFFF"/>
                </a:solidFill>
                <a:latin typeface="Calibri"/>
              </a:rPr>
              <a:t>Robin Randolph
Cisco Account Manager
robrando@cisco.com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937760"/>
            <a:ext cx="10972800" cy="12801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C5D4E3"/>
                </a:solidFill>
                <a:latin typeface="Calibri"/>
              </a:rPr>
              <a:t>Disclaimer: This presentation is derived from Cisco EAMP Price Estimate ID 9325586, generated 08-Sep-2026.
It contains indicative pricing only as of that date and is NOT an approved Cisco quote. Pricing is subject to change.
CISCO CONFIDENTIAL — do not distribute outside Hallmark, World Wide Technology, and Cisco deal teams.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