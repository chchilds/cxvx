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</c:v>
                </c:pt>
              </c:strCache>
            </c:strRef>
          </c:tx>
          <c:spPr>
            <a:solidFill>
              <a:srgbClr val="ED8B00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Remainder (1.5 mo)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271736.15037181997</c:v>
                </c:pt>
                <c:pt idx="1">
                  <c:v>305295.5649427398</c:v>
                </c:pt>
                <c:pt idx="2">
                  <c:v>342999.5672131682</c:v>
                </c:pt>
                <c:pt idx="3">
                  <c:v>385360.0137639945</c:v>
                </c:pt>
                <c:pt idx="4">
                  <c:v>52373.22283836849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Cisco EA</c:v>
                </c:pt>
              </c:strCache>
            </c:strRef>
          </c:tx>
          <c:spPr>
            <a:solidFill>
              <a:srgbClr val="0097D9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Remainder (1.5 mo)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271736.15037181997</c:v>
                </c:pt>
                <c:pt idx="1">
                  <c:v>285322.95789041097</c:v>
                </c:pt>
                <c:pt idx="2">
                  <c:v>299589.1057849315</c:v>
                </c:pt>
                <c:pt idx="3">
                  <c:v>314568.56107417814</c:v>
                </c:pt>
                <c:pt idx="4">
                  <c:v>39955.2809428894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8595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58595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09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Cisco Enterprise Agreement</a:t>
            </a:r>
          </a:p>
          <a:p>
            <a:pPr>
              <a:spcBef>
                <a:spcPts val="1200"/>
              </a:spcBef>
              <a:defRPr sz="3200">
                <a:solidFill>
                  <a:srgbClr val="CCE5F3"/>
                </a:solidFill>
              </a:defRPr>
            </a:pPr>
            <a:r>
              <a:t>Proposal Summary</a:t>
            </a:r>
          </a:p>
          <a:p>
            <a:pPr>
              <a:spcBef>
                <a:spcPts val="3000"/>
              </a:spcBef>
              <a:defRPr sz="2400">
                <a:solidFill>
                  <a:srgbClr val="FFFFFF"/>
                </a:solidFill>
              </a:defRPr>
            </a:pPr>
            <a:r>
              <a:t>HALIFAX HEALTH CARE SYSTEMS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Proposal ID: 9327623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Proposal Name: 9-11-26 ISE + splunk EA 10-18-26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Report Date: 15-Sep-2026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Expected Book Date: 18-Oct-2026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Partner: CDW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Customer Pricing: Includes 20% gross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8595B"/>
                </a:solidFill>
              </a:defRPr>
            </a:pPr>
            <a:r>
              <a:t>CISCO CONFIDENTIAL | Customer pricing includes 20% gross margin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Proposal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3"/>
                </a:solidFill>
              </a:defRPr>
            </a:pPr>
            <a:r>
              <a:t>Deal ID 86069328 | Quote ID 4802559147 | 20% gross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005073"/>
                </a:solidFill>
              </a:defRPr>
            </a:pPr>
            <a:r>
              <a:t>End Customer</a:t>
            </a:r>
          </a:p>
          <a:p>
            <a:pPr>
              <a:spcBef>
                <a:spcPts val="200"/>
              </a:spcBef>
              <a:defRPr sz="1100">
                <a:solidFill>
                  <a:srgbClr val="58595B"/>
                </a:solidFill>
              </a:defRPr>
            </a:pPr>
            <a:r>
              <a:t>  HALIFAX HEALTH CARE SYSTEMS INC</a:t>
            </a:r>
          </a:p>
          <a:p>
            <a:pPr>
              <a:spcBef>
                <a:spcPts val="200"/>
              </a:spcBef>
              <a:defRPr sz="1100">
                <a:solidFill>
                  <a:srgbClr val="58595B"/>
                </a:solidFill>
              </a:defRPr>
            </a:pPr>
            <a:r>
              <a:t>  482 FENTRESS BLVD, STE J, DAYTONA BEACH, FL, 32114, US</a:t>
            </a:r>
          </a:p>
          <a:p>
            <a:pPr>
              <a:spcBef>
                <a:spcPts val="200"/>
              </a:spcBef>
              <a:defRPr sz="1100">
                <a:solidFill>
                  <a:srgbClr val="58595B"/>
                </a:solidFill>
              </a:defRPr>
            </a:pPr>
            <a:r>
              <a:t>  Account : HALIFAX MEDICAL CENTER US</a:t>
            </a:r>
          </a:p>
          <a:p>
            <a:pPr>
              <a:spcBef>
                <a:spcPts val="1400"/>
              </a:spcBef>
              <a:defRPr sz="1400" b="1">
                <a:solidFill>
                  <a:srgbClr val="005073"/>
                </a:solidFill>
              </a:defRPr>
            </a:pPr>
            <a:r>
              <a:t>Agreement Details</a:t>
            </a:r>
          </a:p>
          <a:p>
            <a:pPr>
              <a:spcBef>
                <a:spcPts val="200"/>
              </a:spcBef>
              <a:defRPr sz="1100">
                <a:solidFill>
                  <a:srgbClr val="58595B"/>
                </a:solidFill>
              </a:defRPr>
            </a:pPr>
            <a:r>
              <a:t>  Enterprise Agreement Motion: EA</a:t>
            </a:r>
          </a:p>
          <a:p>
            <a:pPr>
              <a:spcBef>
                <a:spcPts val="200"/>
              </a:spcBef>
              <a:defRPr sz="1100">
                <a:solidFill>
                  <a:srgbClr val="58595B"/>
                </a:solidFill>
              </a:defRPr>
            </a:pPr>
            <a:r>
              <a:t>  Buying Program ID: EA56662</a:t>
            </a:r>
          </a:p>
          <a:p>
            <a:pPr>
              <a:spcBef>
                <a:spcPts val="200"/>
              </a:spcBef>
              <a:defRPr sz="1100">
                <a:solidFill>
                  <a:srgbClr val="58595B"/>
                </a:solidFill>
              </a:defRPr>
            </a:pPr>
            <a:r>
              <a:t>  Smart Account: HALIFAX HEALTH CARE SYSTEMS INC</a:t>
            </a:r>
          </a:p>
          <a:p>
            <a:pPr>
              <a:spcBef>
                <a:spcPts val="200"/>
              </a:spcBef>
              <a:defRPr sz="1100">
                <a:solidFill>
                  <a:srgbClr val="58595B"/>
                </a:solidFill>
              </a:defRPr>
            </a:pPr>
            <a:r>
              <a:t>  Project Name: Modify SR129604 - 31-Aug-2026</a:t>
            </a:r>
          </a:p>
          <a:p>
            <a:pPr>
              <a:spcBef>
                <a:spcPts val="200"/>
              </a:spcBef>
              <a:defRPr sz="1100">
                <a:solidFill>
                  <a:srgbClr val="58595B"/>
                </a:solidFill>
              </a:defRPr>
            </a:pPr>
            <a:r>
              <a:t>  Price List: Global Price List US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073"/>
                </a:solidFill>
              </a:defRPr>
            </a:pPr>
            <a:r>
              <a:t>Portfolios Included</a:t>
            </a:r>
          </a:p>
          <a:p>
            <a:pPr>
              <a:spcBef>
                <a:spcPts val="1000"/>
              </a:spcBef>
              <a:defRPr sz="1200" b="1">
                <a:solidFill>
                  <a:srgbClr val="0097D9"/>
                </a:solidFill>
              </a:defRPr>
            </a:pPr>
            <a:r>
              <a:t>• Applications Infrastructure</a:t>
            </a:r>
          </a:p>
          <a:p>
            <a:pPr>
              <a:defRPr sz="1000">
                <a:solidFill>
                  <a:srgbClr val="58595B"/>
                </a:solidFill>
              </a:defRPr>
            </a:pPr>
            <a:r>
              <a:t>    Splunk Cloud Platform &amp; Splunk Security Cloud</a:t>
            </a:r>
          </a:p>
          <a:p>
            <a:pPr>
              <a:spcBef>
                <a:spcPts val="1000"/>
              </a:spcBef>
              <a:defRPr sz="1200" b="1">
                <a:solidFill>
                  <a:srgbClr val="0097D9"/>
                </a:solidFill>
              </a:defRPr>
            </a:pPr>
            <a:r>
              <a:t>• Security</a:t>
            </a:r>
          </a:p>
          <a:p>
            <a:pPr>
              <a:defRPr sz="1000">
                <a:solidFill>
                  <a:srgbClr val="58595B"/>
                </a:solidFill>
              </a:defRPr>
            </a:pPr>
            <a:r>
              <a:t>    Cisco Identity Services Engine (ISE) — Zero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30352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009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5073"/>
                </a:solidFill>
              </a:defRPr>
            </a:pPr>
            <a:r>
              <a:t>Agreement Terms</a:t>
            </a:r>
          </a:p>
          <a:p>
            <a:pPr>
              <a:spcBef>
                <a:spcPts val="300"/>
              </a:spcBef>
              <a:defRPr sz="1000">
                <a:solidFill>
                  <a:srgbClr val="58595B"/>
                </a:solidFill>
              </a:defRPr>
            </a:pPr>
            <a:r>
              <a:t>Billing Model: Annual</a:t>
            </a:r>
          </a:p>
          <a:p>
            <a:pPr>
              <a:spcBef>
                <a:spcPts val="300"/>
              </a:spcBef>
              <a:defRPr sz="1000">
                <a:solidFill>
                  <a:srgbClr val="58595B"/>
                </a:solidFill>
              </a:defRPr>
            </a:pPr>
            <a:r>
              <a:t>Duration: ~49.5 months</a:t>
            </a:r>
          </a:p>
          <a:p>
            <a:pPr>
              <a:spcBef>
                <a:spcPts val="300"/>
              </a:spcBef>
              <a:defRPr sz="1000">
                <a:solidFill>
                  <a:srgbClr val="58595B"/>
                </a:solidFill>
              </a:defRPr>
            </a:pPr>
            <a:r>
              <a:t>Requested Ship Date: 18-Oct-2026</a:t>
            </a:r>
          </a:p>
          <a:p>
            <a:pPr>
              <a:spcBef>
                <a:spcPts val="300"/>
              </a:spcBef>
              <a:defRPr sz="1000">
                <a:solidFill>
                  <a:srgbClr val="58595B"/>
                </a:solidFill>
              </a:defRPr>
            </a:pPr>
            <a:r>
              <a:t>Commitment: Full Term</a:t>
            </a:r>
          </a:p>
          <a:p>
            <a:pPr>
              <a:spcBef>
                <a:spcPts val="300"/>
              </a:spcBef>
              <a:defRPr sz="1000">
                <a:solidFill>
                  <a:srgbClr val="58595B"/>
                </a:solidFill>
              </a:defRPr>
            </a:pPr>
            <a:r>
              <a:t>Partner Pricing: 20% gross margin (Price = Cost ÷ 0.80)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8595B"/>
                </a:solidFill>
              </a:defRPr>
            </a:pPr>
            <a:r>
              <a:t>CISCO CONFIDENTIAL | Customer pricing includes 20% gross margin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Financial Summary (Customer Pricing)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3"/>
                </a:solidFill>
              </a:defRPr>
            </a:pPr>
            <a:r>
              <a:t>Total Contract Value: $1,119,815.91 | Includes 20% gross margin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  <a:gridCol w="1371600"/>
                <a:gridCol w="1645920"/>
                <a:gridCol w="164592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Portfolio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Software (USD)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Services (USD)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(USD)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List Price (USD)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Discount (USD)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OTD (USD)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Services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$69,440.57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$69,440.57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$154,311.90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$84,871.32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Applications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$853,967.54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$853,967.54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$1,788,912.11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$934,944.58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$0.00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$196,407.80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$196,407.80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$1,028,748.09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$719,933.06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$112,407.23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$1,050,375.34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$69,440.57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$1,119,815.91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$2,971,972.10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$1,739,748.96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$112,407.23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8595B"/>
                </a:solidFill>
              </a:defRPr>
            </a:pPr>
            <a:r>
              <a:t>CISCO CONFIDENTIAL | Customer pricing includes 20% gross 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303520"/>
            <a:ext cx="4754880" cy="914400"/>
          </a:xfrm>
          <a:prstGeom prst="roundRect">
            <a:avLst/>
          </a:prstGeom>
          <a:solidFill>
            <a:srgbClr val="6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Total EA Contract Value: $1,119,815.91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Total Savings vs. List Price: $1,852,156.19 (62.3%)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Applications Infrastructure — Splunk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3"/>
                </a:solidFill>
              </a:defRPr>
            </a:pPr>
            <a:r>
              <a:t>Portfolio TCV: $853,967.54 | Includes 20% gross margin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0058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3200400"/>
                <a:gridCol w="640080"/>
                <a:gridCol w="1097280"/>
                <a:gridCol w="914400"/>
                <a:gridCol w="11887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Suite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Unit/Mo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 Disc.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TCV (USD)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Splunk Cloud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E3-CX-SK-SUP-ST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SVCS Portfolio Splunk Standard Success Plan (E3-CX-S...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Splunk Cloud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E3A-SK-SE-C-H-S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Splunk Cloud Sub - Std w HIPAA Compliance and Enc GB...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$95.39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52.77%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$556,948.79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Splunk Cloud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E3A-SK-C-FA3P-H-S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Splunk Federated Analytics - 3rd Party - HIPAA, Inge...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$33.75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52.77%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$7,881.35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Splunk Security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E3-CX-SK-SUP-ST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SVCS Portfolio Splunk Standard Success Plan (E3-CX-S...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$0.00</a:t>
                      </a:r>
                    </a:p>
                  </a:txBody>
                  <a:tcPr anchor="ctr"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Splunk Security Cloud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E3A-SK-ES-CLD-S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Splunk Cloud - Ent Sec Ess - Sub with Std Success - ...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$47.96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51.25%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$289,137.40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Splunk Security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E3A-SK-TIM-CLD-S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Splunk Threat Intel Mgt - Ent Edition - Std Success 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51.25%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$0.00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8595B"/>
                </a:solidFill>
              </a:defRPr>
            </a:pPr>
            <a:r>
              <a:t>CISCO CONFIDENTIAL | Customer pricing includes 20% gross margin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— Cisco ISE (Software)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3"/>
                </a:solidFill>
              </a:defRPr>
            </a:pPr>
            <a:r>
              <a:t>Portfolio Software TCV: $196,407.80 | Includes 20% gross margin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9144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2286000"/>
                <a:gridCol w="731520"/>
                <a:gridCol w="1097280"/>
                <a:gridCol w="91440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Suite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Unit/Mo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 Disc.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TCV (USD)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Identity Services Engine (ISE)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E3S-ISE-PRM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ISE Premier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7,000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$1.31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70.00%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$86,459.14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Identity Services Engine (ISE)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SVS-E3S-ISE-B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Cisco Support Basic for 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23.00%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$0.00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Identity Services Engine (ISE)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E3S-ISE-ADV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ISE Advantage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14,000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$0.78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70.00%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$102,741.50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Identity Services Engine (ISE)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E3S-ISE-ESS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ISE Essentials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70.00%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$7,207.16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8595B"/>
                </a:solidFill>
              </a:defRPr>
            </a:pPr>
            <a:r>
              <a:t>CISCO CONFIDENTIAL | Customer pricing includes 20% gross margin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— Cisco ISE (Services)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3"/>
                </a:solidFill>
              </a:defRPr>
            </a:pPr>
            <a:r>
              <a:t>Portfolio Services TCV: $69,440.57 | Includes 20% gross margin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91440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2103120"/>
                <a:gridCol w="548640"/>
                <a:gridCol w="1371600"/>
                <a:gridCol w="914400"/>
                <a:gridCol w="1005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Suite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Service Tier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 Disc.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TCV (USD)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Services: Identity Services Engine (ISE)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E3-CX-ISE-ESWP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Cisco Support Standard SW Support OP for ISE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55.00%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$69,440.57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8595B"/>
                </a:solidFill>
              </a:defRPr>
            </a:pPr>
            <a:r>
              <a:t>CISCO CONFIDENTIAL | Customer pricing includes 20% gross margin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Investment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3"/>
                </a:solidFill>
              </a:defRPr>
            </a:pPr>
            <a:r>
              <a:t>Customer pricing includes 20% gross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1463040"/>
          </a:xfrm>
          <a:prstGeom prst="roundRect">
            <a:avLst/>
          </a:prstGeom>
          <a:solidFill>
            <a:srgbClr val="F5F5F5"/>
          </a:solidFill>
          <a:ln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8595B"/>
                </a:solidFill>
              </a:defRPr>
            </a:pPr>
            <a:r>
              <a:t>Total Contract Value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005073"/>
                </a:solidFill>
              </a:defRPr>
            </a:pPr>
            <a:r>
              <a:t>$1,119,815.91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1463040"/>
          </a:xfrm>
          <a:prstGeom prst="roundRect">
            <a:avLst/>
          </a:prstGeom>
          <a:solidFill>
            <a:srgbClr val="F5F5F5"/>
          </a:solidFill>
          <a:ln>
            <a:solidFill>
              <a:srgbClr val="009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8595B"/>
                </a:solidFill>
              </a:defRPr>
            </a:pPr>
            <a:r>
              <a:t>Software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0097D9"/>
                </a:solidFill>
              </a:defRPr>
            </a:pPr>
            <a:r>
              <a:t>$1,050,375.34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74720" cy="1463040"/>
          </a:xfrm>
          <a:prstGeom prst="roundRect">
            <a:avLst/>
          </a:prstGeom>
          <a:solidFill>
            <a:srgbClr val="F5F5F5"/>
          </a:solidFill>
          <a:ln>
            <a:solidFill>
              <a:srgbClr val="009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8595B"/>
                </a:solidFill>
              </a:defRPr>
            </a:pPr>
            <a:r>
              <a:t>Services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0097D9"/>
                </a:solidFill>
              </a:defRPr>
            </a:pPr>
            <a:r>
              <a:t>$69,440.57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3474720" cy="1463040"/>
          </a:xfrm>
          <a:prstGeom prst="roundRect">
            <a:avLst/>
          </a:prstGeom>
          <a:solidFill>
            <a:srgbClr val="F5F5F5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8595B"/>
                </a:solidFill>
              </a:defRPr>
            </a:pPr>
            <a:r>
              <a:t>Total List Price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58595B"/>
                </a:solidFill>
              </a:defRPr>
            </a:pPr>
            <a:r>
              <a:t>$2,971,972.10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200400"/>
            <a:ext cx="3474720" cy="1463040"/>
          </a:xfrm>
          <a:prstGeom prst="roundRect">
            <a:avLst/>
          </a:prstGeom>
          <a:solidFill>
            <a:srgbClr val="F5F5F5"/>
          </a:solidFill>
          <a:ln>
            <a:solidFill>
              <a:srgbClr val="6BB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8595B"/>
                </a:solidFill>
              </a:defRPr>
            </a:pPr>
            <a:r>
              <a:t>Total Discount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6BBF4A"/>
                </a:solidFill>
              </a:defRPr>
            </a:pPr>
            <a:r>
              <a:t>$1,739,748.96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200400"/>
            <a:ext cx="3474720" cy="1463040"/>
          </a:xfrm>
          <a:prstGeom prst="roundRect">
            <a:avLst/>
          </a:prstGeom>
          <a:solidFill>
            <a:srgbClr val="F5F5F5"/>
          </a:solidFill>
          <a:ln>
            <a:solidFill>
              <a:srgbClr val="6BB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8595B"/>
                </a:solidFill>
              </a:defRPr>
            </a:pPr>
            <a:r>
              <a:t>One-Time Discount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6BBF4A"/>
                </a:solidFill>
              </a:defRPr>
            </a:pPr>
            <a:r>
              <a:t>$112,407.23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5073"/>
                </a:solidFill>
              </a:defRPr>
            </a:pPr>
            <a:r>
              <a:t>Estimated Average Annual Investment: $271,736.15  (includes 20% gross margin, ~49.5 month term, annual billing)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8595B"/>
                </a:solidFill>
              </a:defRPr>
            </a:pPr>
            <a:r>
              <a:t>CISCO CONFIDENTIAL | Customer pricing includes 20% gross margin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Term TCO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E5F3"/>
                </a:solidFill>
              </a:defRPr>
            </a:pPr>
            <a:r>
              <a:t>49.5-month term  |  5% annual growth  |  7% annual inflation  |  20% gross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3749039" cy="1051560"/>
          </a:xfrm>
          <a:prstGeom prst="round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Traditional TCO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$1,357,764.52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5% growth + 7% inflation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43000"/>
            <a:ext cx="3749039" cy="1051560"/>
          </a:xfrm>
          <a:prstGeom prst="roundRect">
            <a:avLst/>
          </a:prstGeom>
          <a:solidFill>
            <a:srgbClr val="009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Cisco EA TCO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$1,211,172.06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5% growth, prices 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143000"/>
            <a:ext cx="3749039" cy="1051560"/>
          </a:xfrm>
          <a:prstGeom prst="roundRect">
            <a:avLst/>
          </a:prstGeom>
          <a:solidFill>
            <a:srgbClr val="6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Inflation-Protection Savings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$146,592.46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10.8% lower TCO vs. traditional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331720"/>
          <a:ext cx="676655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874519"/>
                <a:gridCol w="1874519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(Growth + Inflation)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Cisco EA (Growth, Price Lock)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Annual Savings</a:t>
                      </a:r>
                    </a:p>
                  </a:txBody>
                  <a:tcPr anchor="ctr">
                    <a:solidFill>
                      <a:srgbClr val="0097D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$271,736.15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$271,736.15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$0.00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Year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$305,295.56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$285,322.96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$19,972.61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$342,999.57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$299,589.11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$43,410.46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Year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$385,360.01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$314,568.56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$70,791.45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0"/>
                      </a:pPr>
                      <a:r>
                        <a:t>Remainder (1.5 mo)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$52,373.22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$39,955.28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$12,417.94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Term Total</a:t>
                      </a:r>
                    </a:p>
                  </a:txBody>
                  <a:tcPr anchor="ctr">
                    <a:solidFill>
                      <a:srgbClr val="00507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$1,357,764.52</a:t>
                      </a:r>
                    </a:p>
                  </a:txBody>
                  <a:tcPr anchor="ctr">
                    <a:solidFill>
                      <a:srgbClr val="00507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$1,211,172.06</a:t>
                      </a:r>
                    </a:p>
                  </a:txBody>
                  <a:tcPr anchor="ctr">
                    <a:solidFill>
                      <a:srgbClr val="00507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$146,592.46</a:t>
                      </a:r>
                    </a:p>
                  </a:txBody>
                  <a:tcPr anchor="ctr">
                    <a:solidFill>
                      <a:srgbClr val="00507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269480" y="2286000"/>
          <a:ext cx="457200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285232"/>
            <a:ext cx="114300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073"/>
                </a:solidFill>
              </a:defRPr>
            </a:pPr>
            <a:r>
              <a:t>Assumptions</a:t>
            </a:r>
          </a:p>
          <a:p>
            <a:pPr>
              <a:spcBef>
                <a:spcPts val="200"/>
              </a:spcBef>
              <a:defRPr sz="900">
                <a:solidFill>
                  <a:srgbClr val="58595B"/>
                </a:solidFill>
              </a:defRPr>
            </a:pPr>
            <a:r>
              <a:t>Year 1 baseline is the annualized customer TCV ($271,736.15 = $1,119,815.91 × 12 / 49.5 months).</a:t>
            </a:r>
          </a:p>
          <a:p>
            <a:pPr>
              <a:spcBef>
                <a:spcPts val="200"/>
              </a:spcBef>
              <a:defRPr sz="900">
                <a:solidFill>
                  <a:srgbClr val="58595B"/>
                </a:solidFill>
              </a:defRPr>
            </a:pPr>
            <a:r>
              <a:t>Both paths apply 5% annual consumption growth (EA True Forward at locked unit rates). 7% inflation applies only to traditional / a-la-carte purchasing.</a:t>
            </a:r>
          </a:p>
          <a:p>
            <a:pPr>
              <a:spcBef>
                <a:spcPts val="200"/>
              </a:spcBef>
              <a:defRPr sz="900">
                <a:solidFill>
                  <a:srgbClr val="58595B"/>
                </a:solidFill>
              </a:defRPr>
            </a:pPr>
            <a:r>
              <a:t>Quoted EA TCV with no growth is $1,119,815.91. EA TCO above includes True Forward on 5% growth. Remainder is prorated 1.5 months of year 5. Pricing includes 20% gross margin.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8595B"/>
                </a:solidFill>
              </a:defRPr>
            </a:pPr>
            <a:r>
              <a:t>CISCO CONFIDENTIAL | Customer pricing includes 20% gross margin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Important Notice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F3"/>
                </a:solidFill>
              </a:defRPr>
            </a:pPr>
            <a:r>
              <a:t>Cisco Enterprise Agreement — Proposal Export Summary (v1.0)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005073"/>
                </a:solidFill>
              </a:defRPr>
            </a:pPr>
            <a:r>
              <a:t>This presentation contains indicative pricing only as of the date generated.</a:t>
            </a:r>
          </a:p>
          <a:p>
            <a:pPr>
              <a:spcBef>
                <a:spcPts val="800"/>
              </a:spcBef>
              <a:defRPr sz="1400" b="1">
                <a:solidFill>
                  <a:srgbClr val="005073"/>
                </a:solidFill>
              </a:defRPr>
            </a:pPr>
            <a:r>
              <a:t>This is NOT an approved Cisco quote.</a:t>
            </a:r>
          </a:p>
          <a:p>
            <a:pPr>
              <a:spcBef>
                <a:spcPts val="800"/>
              </a:spcBef>
              <a:defRPr sz="1200">
                <a:solidFill>
                  <a:srgbClr val="58595B"/>
                </a:solidFill>
              </a:defRPr>
            </a:pPr>
            <a:r>
              <a:t>Pricing is subject to change and final approval by Cisco.</a:t>
            </a:r>
          </a:p>
          <a:p>
            <a:pPr>
              <a:spcBef>
                <a:spcPts val="800"/>
              </a:spcBef>
              <a:defRPr sz="1400" b="1">
                <a:solidFill>
                  <a:srgbClr val="005073"/>
                </a:solidFill>
              </a:defRPr>
            </a:pPr>
            <a:r>
              <a:t>All dollar amounts shown include 20% gross margin applied to Cisco net pricing (Customer Price = Net Cost ÷ 0.80).</a:t>
            </a:r>
          </a:p>
          <a:p>
            <a:pPr>
              <a:spcBef>
                <a:spcPts val="800"/>
              </a:spcBef>
              <a:defRPr sz="1200">
                <a:solidFill>
                  <a:srgbClr val="58595B"/>
                </a:solidFill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005073"/>
                </a:solidFill>
              </a:defRPr>
            </a:pPr>
            <a:r>
              <a:t>Pre-EA assets are software licenses actively available in the customer's install base. They will be considered as consumed when the EA subscription is activated.</a:t>
            </a:r>
          </a:p>
          <a:p>
            <a:pPr>
              <a:spcBef>
                <a:spcPts val="800"/>
              </a:spcBef>
              <a:defRPr sz="1200">
                <a:solidFill>
                  <a:srgbClr val="58595B"/>
                </a:solidFill>
              </a:defRPr>
            </a:pPr>
          </a:p>
          <a:p>
            <a:pPr>
              <a:spcBef>
                <a:spcPts val="800"/>
              </a:spcBef>
              <a:defRPr sz="1100">
                <a:solidFill>
                  <a:srgbClr val="0097D9"/>
                </a:solidFill>
              </a:defRPr>
            </a:pPr>
            <a:r>
              <a:t>Proposal Link: https://apps.cisco.com/ea/project/proposal/6aa407697861bd4610eba3b4</a:t>
            </a:r>
          </a:p>
          <a:p>
            <a:pPr>
              <a:spcBef>
                <a:spcPts val="800"/>
              </a:spcBef>
              <a:defRPr sz="1200">
                <a:solidFill>
                  <a:srgbClr val="58595B"/>
                </a:solidFill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58595B"/>
                </a:solidFill>
              </a:defRPr>
            </a:pPr>
            <a:r>
              <a:t>Generated: 15-Sep-2026</a:t>
            </a:r>
          </a:p>
          <a:p>
            <a:pPr>
              <a:spcBef>
                <a:spcPts val="800"/>
              </a:spcBef>
              <a:defRPr sz="1200">
                <a:solidFill>
                  <a:srgbClr val="58595B"/>
                </a:solidFill>
              </a:defRPr>
            </a:pPr>
            <a:r>
              <a:t>Proposal ID: 9327623</a:t>
            </a:r>
          </a:p>
          <a:p>
            <a:pPr>
              <a:spcBef>
                <a:spcPts val="800"/>
              </a:spcBef>
              <a:defRPr sz="1200">
                <a:solidFill>
                  <a:srgbClr val="58595B"/>
                </a:solidFill>
              </a:defRPr>
            </a:pPr>
            <a:r>
              <a:t>Deal ID: 86069328 | Quote ID: 4802559147</a:t>
            </a:r>
          </a:p>
          <a:p>
            <a:pPr>
              <a:spcBef>
                <a:spcPts val="600"/>
              </a:spcBef>
              <a:defRPr sz="1300" b="1">
                <a:solidFill>
                  <a:srgbClr val="005073"/>
                </a:solidFill>
              </a:defRPr>
            </a:pPr>
            <a:r>
              <a:t>TCO figures are illustrative. Growth (5%) and inflation (7%) are modeling assumptions, not contractual commitments. Actual True Forward is based on measured consumption at anniversary.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8595B"/>
                </a:solidFill>
              </a:defRPr>
            </a:pPr>
            <a:r>
              <a:t>CISCO CONFIDENTIAL | Customer pricing includes 20% gross 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