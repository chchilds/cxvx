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09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Cisco Enterprise Agreement</a:t>
            </a:r>
          </a:p>
          <a:p>
            <a:pPr>
              <a:spcBef>
                <a:spcPts val="1200"/>
              </a:spcBef>
              <a:defRPr sz="3200">
                <a:solidFill>
                  <a:srgbClr val="CCE5F3"/>
                </a:solidFill>
              </a:defRPr>
            </a:pPr>
            <a:r>
              <a:t>Proposal Summary</a:t>
            </a:r>
          </a:p>
          <a:p>
            <a:pPr>
              <a:spcBef>
                <a:spcPts val="3000"/>
              </a:spcBef>
              <a:defRPr sz="2400">
                <a:solidFill>
                  <a:srgbClr val="FFFFFF"/>
                </a:solidFill>
              </a:defRPr>
            </a:pPr>
            <a:r>
              <a:t>HALIFAX HEALTH CARE SYSTEMS INC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Proposal ID: 9327623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Proposal Name: 9-11-26 ISE + splunk EA 10-18-26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Report Date: 15-Sep-2026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Expected Book Date: 18-Oct-2026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Partner: CDW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Customer Pricing: Includes 20% gross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Proposal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Deal ID 86069328 | Quote ID 4802559147 | 20% gross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 b="1">
                <a:solidFill>
                  <a:srgbClr val="005073"/>
                </a:solidFill>
              </a:defRPr>
            </a:pPr>
            <a:r>
              <a:t>End Customer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HALIFAX HEALTH CARE SYSTEMS INC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482 FENTRESS BLVD, STE J, DAYTONA BEACH, FL, 32114, US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Account : HALIFAX MEDICAL CENTER US</a:t>
            </a:r>
          </a:p>
          <a:p>
            <a:pPr>
              <a:spcBef>
                <a:spcPts val="1400"/>
              </a:spcBef>
              <a:defRPr sz="1400" b="1">
                <a:solidFill>
                  <a:srgbClr val="005073"/>
                </a:solidFill>
              </a:defRPr>
            </a:pPr>
            <a:r>
              <a:t>Agreement Details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Enterprise Agreement Motion: EA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Buying Program ID: EA56662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Smart Account: HALIFAX HEALTH CARE SYSTEMS INC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Project Name: Modify SR129604 - 31-Aug-2026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Price List: Global Price List US Availability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073"/>
                </a:solidFill>
              </a:defRPr>
            </a:pPr>
            <a:r>
              <a:t>Portfolios Included</a:t>
            </a:r>
          </a:p>
          <a:p>
            <a:pPr>
              <a:spcBef>
                <a:spcPts val="1000"/>
              </a:spcBef>
              <a:defRPr sz="1200" b="1">
                <a:solidFill>
                  <a:srgbClr val="0097D9"/>
                </a:solidFill>
              </a:defRPr>
            </a:pPr>
            <a:r>
              <a:t>• Applications Infrastructure</a:t>
            </a:r>
          </a:p>
          <a:p>
            <a:pPr>
              <a:defRPr sz="1000">
                <a:solidFill>
                  <a:srgbClr val="58595B"/>
                </a:solidFill>
              </a:defRPr>
            </a:pPr>
            <a:r>
              <a:t>    Splunk Cloud Platform &amp; Splunk Security Cloud</a:t>
            </a:r>
          </a:p>
          <a:p>
            <a:pPr>
              <a:spcBef>
                <a:spcPts val="1000"/>
              </a:spcBef>
              <a:defRPr sz="1200" b="1">
                <a:solidFill>
                  <a:srgbClr val="0097D9"/>
                </a:solidFill>
              </a:defRPr>
            </a:pPr>
            <a:r>
              <a:t>• Security</a:t>
            </a:r>
          </a:p>
          <a:p>
            <a:pPr>
              <a:defRPr sz="1000">
                <a:solidFill>
                  <a:srgbClr val="58595B"/>
                </a:solidFill>
              </a:defRPr>
            </a:pPr>
            <a:r>
              <a:t>    Cisco Identity Services Engine (ISE) — Zero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114800"/>
            <a:ext cx="5303520" cy="201168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5073"/>
                </a:solidFill>
              </a:defRPr>
            </a:pPr>
            <a:r>
              <a:t>Agreement Terms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Billing Model: Annual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Duration: ~49.5 months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Requested Ship Date: 18-Oct-2026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Commitment: Full Term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Partner Pricing: 20% gross margin (Price = Cost ÷ 0.80)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Financial Summary (Customer Pricing)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Total Contract Value: $1,119,815.91 | Includes 20% gross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371600"/>
                <a:gridCol w="1371600"/>
                <a:gridCol w="164592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Portfolio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Software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Services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Total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List Price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Discount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OTD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Services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$69,440.57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$69,440.57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$154,311.90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$84,871.32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Applications Infrastructure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$853,967.54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$853,967.54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$1,788,912.11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$934,944.58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$196,407.80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$196,407.80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$1,028,748.09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$719,933.06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$112,407.23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$1,050,375.34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$69,440.57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$1,119,815.91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$2,971,972.10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$1,739,748.96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$112,407.23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303520"/>
            <a:ext cx="4754880" cy="914400"/>
          </a:xfrm>
          <a:prstGeom prst="roundRect">
            <a:avLst/>
          </a:prstGeom>
          <a:solidFill>
            <a:srgbClr val="6BB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Total EA Contract Value: $1,119,815.91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Total Savings vs. List Price: $1,852,156.19 (62.3%)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Applications Infrastructure — Splunk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TCV: $853,967.54 | Includes 20% gross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00584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200400"/>
                <a:gridCol w="640080"/>
                <a:gridCol w="1097280"/>
                <a:gridCol w="914400"/>
                <a:gridCol w="11887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Unit/Mo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E3-CX-SK-SUP-ST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SVCS Portfolio Splunk Standard Success Plan (E3-CX-S...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E3A-SK-SE-C-H-S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Sub - Std w HIPAA Compliance and Enc GB...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$95.39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52.77%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$556,948.79</a:t>
                      </a:r>
                    </a:p>
                  </a:txBody>
                  <a:tcPr anchor="ctr"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E3A-SK-C-FA3P-H-S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Federated Analytics - 3rd Party - HIPAA, Inge...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$33.75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52.77%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$7,881.35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E3-CX-SK-SUP-ST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SVCS Portfolio Splunk Standard Success Plan (E3-CX-S...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E3A-SK-ES-CLD-S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- Ent Sec Ess - Sub with Std Success - 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$47.96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51.25%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$289,137.40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E3A-SK-TIM-CLD-S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Threat Intel Mgt - Ent Edition - Std Success 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51.25%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— Cisco ISE (Software)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Software TCV: $196,407.80 | Includes 20% gross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9144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2286000"/>
                <a:gridCol w="73152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Unit/Mo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E3S-ISE-PRM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Premier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7,000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$1.31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$86,459.14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SVS-E3S-ISE-B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Cisco Support Basic for 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23.00%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E3S-ISE-ADV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Advantage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14,000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$102,741.50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Essentials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$7,207.16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— Cisco ISE (Services)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Services TCV: $69,440.57 | Includes 20% gross margin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91440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103120"/>
                <a:gridCol w="548640"/>
                <a:gridCol w="1371600"/>
                <a:gridCol w="91440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 Tier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Services: 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E3-CX-ISE-ESWP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Cisco Support Standard SW Support OP for ISE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55.00%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$69,440.57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Investment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Customer pricing includes 20% gross margin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5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Contract Value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5073"/>
                </a:solidFill>
              </a:defRPr>
            </a:pPr>
            <a:r>
              <a:t>$1,119,815.91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Software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97D9"/>
                </a:solidFill>
              </a:defRPr>
            </a:pPr>
            <a:r>
              <a:t>$1,050,375.34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Services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97D9"/>
                </a:solidFill>
              </a:defRPr>
            </a:pPr>
            <a:r>
              <a:t>$69,440.57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5859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List Price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58595B"/>
                </a:solidFill>
              </a:defRPr>
            </a:pPr>
            <a:r>
              <a:t>$2,971,972.10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6BB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Discount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6BBF4A"/>
                </a:solidFill>
              </a:defRPr>
            </a:pPr>
            <a:r>
              <a:t>$1,739,748.96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6BB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One-Time Discount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6BBF4A"/>
                </a:solidFill>
              </a:defRPr>
            </a:pPr>
            <a:r>
              <a:t>$112,407.23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5073"/>
                </a:solidFill>
              </a:defRPr>
            </a:pPr>
            <a:r>
              <a:t>Estimated Average Annual Investment: $271,736.15  (includes 20% gross margin, ~49.5 month term, annual billing)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Important Notice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Cisco Enterprise Agreement — Proposal Export Summary (v1.0)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This presentation contains indicative pricing only as of the date generated.</a:t>
            </a: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This is NOT an approved Cisco quote.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Pricing is subject to change and final approval by Cisco.</a:t>
            </a: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All dollar amounts shown include 20% gross margin applied to Cisco net pricing (Customer Price = Net Cost ÷ 0.80).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Pre-EA assets are software licenses actively available in the customer's install base. They will be considered as consumed when the EA subscription is activated.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100">
                <a:solidFill>
                  <a:srgbClr val="0097D9"/>
                </a:solidFill>
              </a:defRPr>
            </a:pPr>
            <a:r>
              <a:t>Proposal Link: https://apps.cisco.com/ea/project/proposal/6aa407697861bd4610eba3b4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Generated: 15-Sep-2026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Proposal ID: 9327623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Deal ID: 86069328 | Quote ID: 4802559147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Customer pricing includes 20% gross margin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