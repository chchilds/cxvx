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097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Cisco Enterprise Agreement</a:t>
            </a:r>
          </a:p>
          <a:p>
            <a:pPr>
              <a:spcBef>
                <a:spcPts val="1200"/>
              </a:spcBef>
              <a:defRPr sz="3200">
                <a:solidFill>
                  <a:srgbClr val="CCE5F3"/>
                </a:solidFill>
              </a:defRPr>
            </a:pPr>
            <a:r>
              <a:t>Proposal Summary</a:t>
            </a:r>
          </a:p>
          <a:p>
            <a:pPr>
              <a:spcBef>
                <a:spcPts val="3000"/>
              </a:spcBef>
              <a:defRPr sz="2400">
                <a:solidFill>
                  <a:srgbClr val="FFFFFF"/>
                </a:solidFill>
              </a:defRPr>
            </a:pPr>
            <a:r>
              <a:t>HALIFAX HEALTH CARE SYSTEMS INC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Proposal ID: 9327623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Proposal Name: 9-11-26 ISE + splunk EA 10-18-26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Report Date: 15-Sep-2026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Expected Book Date: 18-Oct-2026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Partner: CDW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 | Indicative pricing only — NOT an approved Cisco quote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Proposal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Deal ID 86069328 | Quote ID 4802559147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400" b="1">
                <a:solidFill>
                  <a:srgbClr val="005073"/>
                </a:solidFill>
              </a:defRPr>
            </a:pPr>
            <a:r>
              <a:t>End Customer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HALIFAX HEALTH CARE SYSTEMS INC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482 FENTRESS BLVD, STE J, DAYTONA BEACH, FL, 32114, US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Account : HALIFAX MEDICAL CENTER US</a:t>
            </a:r>
          </a:p>
          <a:p/>
          <a:p>
            <a:pPr>
              <a:spcBef>
                <a:spcPts val="1400"/>
              </a:spcBef>
              <a:defRPr sz="1400" b="1">
                <a:solidFill>
                  <a:srgbClr val="005073"/>
                </a:solidFill>
              </a:defRPr>
            </a:pPr>
            <a:r>
              <a:t>Agreement Details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Enterprise Agreement Motion: EA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Buying Program ID: EA56662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Smart Account: HALIFAX HEALTH CARE SYSTEMS INC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Project Name: Modify SR129604 - 31-Aug-2026</a:t>
            </a:r>
          </a:p>
          <a:p>
            <a:pPr>
              <a:spcBef>
                <a:spcPts val="200"/>
              </a:spcBef>
              <a:defRPr sz="1100">
                <a:solidFill>
                  <a:srgbClr val="58595B"/>
                </a:solidFill>
              </a:defRPr>
            </a:pPr>
            <a:r>
              <a:t>  Price List: Global Price List US Availability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073"/>
                </a:solidFill>
              </a:defRPr>
            </a:pPr>
            <a:r>
              <a:t>Portfolios Included</a:t>
            </a:r>
          </a:p>
          <a:p>
            <a:pPr>
              <a:spcBef>
                <a:spcPts val="1000"/>
              </a:spcBef>
              <a:defRPr sz="1200" b="1">
                <a:solidFill>
                  <a:srgbClr val="0097D9"/>
                </a:solidFill>
              </a:defRPr>
            </a:pPr>
            <a:r>
              <a:t>• Applications Infrastructure</a:t>
            </a:r>
          </a:p>
          <a:p>
            <a:pPr>
              <a:defRPr sz="1000">
                <a:solidFill>
                  <a:srgbClr val="58595B"/>
                </a:solidFill>
              </a:defRPr>
            </a:pPr>
            <a:r>
              <a:t>    Splunk Cloud Platform &amp; Splunk Security Cloud</a:t>
            </a:r>
          </a:p>
          <a:p>
            <a:pPr>
              <a:spcBef>
                <a:spcPts val="1000"/>
              </a:spcBef>
              <a:defRPr sz="1200" b="1">
                <a:solidFill>
                  <a:srgbClr val="0097D9"/>
                </a:solidFill>
              </a:defRPr>
            </a:pPr>
            <a:r>
              <a:t>• Security</a:t>
            </a:r>
          </a:p>
          <a:p>
            <a:pPr>
              <a:defRPr sz="1000">
                <a:solidFill>
                  <a:srgbClr val="58595B"/>
                </a:solidFill>
              </a:defRPr>
            </a:pPr>
            <a:r>
              <a:t>    Cisco Identity Services Engine (ISE) — Zero Trust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114800"/>
            <a:ext cx="5303520" cy="2011680"/>
          </a:xfrm>
          <a:prstGeom prst="roundRect">
            <a:avLst/>
          </a:prstGeom>
          <a:solidFill>
            <a:srgbClr val="F5F5F5"/>
          </a:solidFill>
          <a:ln>
            <a:solidFill>
              <a:srgbClr val="009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5073"/>
                </a:solidFill>
              </a:defRPr>
            </a:pPr>
            <a:r>
              <a:t>Agreement Terms</a:t>
            </a:r>
          </a:p>
          <a:p>
            <a:pPr>
              <a:spcBef>
                <a:spcPts val="300"/>
              </a:spcBef>
              <a:defRPr sz="1000">
                <a:solidFill>
                  <a:srgbClr val="58595B"/>
                </a:solidFill>
              </a:defRPr>
            </a:pPr>
            <a:r>
              <a:t>Billing Model: Annual</a:t>
            </a:r>
          </a:p>
          <a:p>
            <a:pPr>
              <a:spcBef>
                <a:spcPts val="300"/>
              </a:spcBef>
              <a:defRPr sz="1000">
                <a:solidFill>
                  <a:srgbClr val="58595B"/>
                </a:solidFill>
              </a:defRPr>
            </a:pPr>
            <a:r>
              <a:t>Duration: ~49.5 months</a:t>
            </a:r>
          </a:p>
          <a:p>
            <a:pPr>
              <a:spcBef>
                <a:spcPts val="300"/>
              </a:spcBef>
              <a:defRPr sz="1000">
                <a:solidFill>
                  <a:srgbClr val="58595B"/>
                </a:solidFill>
              </a:defRPr>
            </a:pPr>
            <a:r>
              <a:t>Requested Ship Date: 18-Oct-2026</a:t>
            </a:r>
          </a:p>
          <a:p>
            <a:pPr>
              <a:spcBef>
                <a:spcPts val="300"/>
              </a:spcBef>
              <a:defRPr sz="1000">
                <a:solidFill>
                  <a:srgbClr val="58595B"/>
                </a:solidFill>
              </a:defRPr>
            </a:pPr>
            <a:r>
              <a:t>Commitment: Full 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Financial Summary (Net Pricing)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Total Contract Value: $895,852.73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0515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1371600"/>
                <a:gridCol w="1371600"/>
                <a:gridCol w="1645920"/>
                <a:gridCol w="16459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Portfolio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Software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Services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Total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List Price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Discount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OTD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Services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$55,552.46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$55,552.46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$123,449.52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$67,897.06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Applications Infrastructure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$683,174.03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$683,174.03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$1,431,129.69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$747,955.66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Security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$157,126.24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$157,126.24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$822,998.47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$575,946.45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$89,925.78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$840,300.27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$55,552.46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$895,852.73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$2,377,577.68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$1,391,799.17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$89,925.78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5303520"/>
            <a:ext cx="4114800" cy="914400"/>
          </a:xfrm>
          <a:prstGeom prst="roundRect">
            <a:avLst/>
          </a:prstGeom>
          <a:solidFill>
            <a:srgbClr val="6BB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Total EA Contract Value: $895,852.73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Total Savings vs. List Price: $1,481,724.95 (62.3%)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Applications Infrastructure — Splunk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Portfolio TCV: $683,174.03 | Duration: ~49.5 months | Billing: Annual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00584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3200400"/>
                <a:gridCol w="640080"/>
                <a:gridCol w="1097280"/>
                <a:gridCol w="914400"/>
                <a:gridCol w="118872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Suite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Part Number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Unit List/Mo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Sub Disc.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TCV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Cloud Platform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E3-CX-SK-SUP-ST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SVCS Portfolio Splunk Standard Success Plan (E3-CX-S...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Cloud Platform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E3A-SK-SE-C-H-S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Cloud Sub - Std w HIPAA Compliance and Enc GB...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$76.31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52.77%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$445,559.03</a:t>
                      </a:r>
                    </a:p>
                  </a:txBody>
                  <a:tcPr anchor="ctr"/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Cloud Platform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E3A-SK-C-FA3P-H-S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Federated Analytics - 3rd Party - HIPAA, Inge...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$27.00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52.77%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$6,305.08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Security Cloud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E3-CX-SK-SUP-ST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SVCS Portfolio Splunk Standard Success Plan (E3-CX-S...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/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Security Cloud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E3A-SK-ES-CLD-S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Cloud - Ent Sec Ess - Sub with Std Success - ...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$38.37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51.25%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$231,309.92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Security Cloud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E3A-SK-TIM-CLD-S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Splunk Threat Intel Mgt - Ent Edition - Std Success ...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51.25%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Security — Cisco ISE (Software)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Portfolio Software TCV: $157,126.24 | SCU Count: 100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9144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188720"/>
                <a:gridCol w="2286000"/>
                <a:gridCol w="731520"/>
                <a:gridCol w="1097280"/>
                <a:gridCol w="91440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Suite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Part Number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Unit List/Mo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Sub Disc.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TCV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Identity Services Engine (ISE)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E3S-ISE-PRM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ISE Premier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7,000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$1.05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70.00%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$69,167.31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Identity Services Engine (ISE)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SVS-E3S-ISE-B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Cisco Support Basic for 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23.00%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$0.00</a:t>
                      </a:r>
                    </a:p>
                  </a:txBody>
                  <a:tcPr anchor="ctr"/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Identity Services Engine (ISE)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E3S-ISE-ADV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ISE Advantage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14,000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70.00%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$82,193.20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Identity Services Engine (ISE)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E3S-ISE-ESS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ISE Essentials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$0.12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70.00%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$5,765.73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Security — Cisco ISE (Services)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Portfolio Services TCV: $55,552.46 | Reseller: CDW LOGISTICS LLC (417691476)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914400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2103120"/>
                <a:gridCol w="548640"/>
                <a:gridCol w="1371600"/>
                <a:gridCol w="914400"/>
                <a:gridCol w="100584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Suite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Part Number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Service Tier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Sub Disc.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TCV (USD)</a:t>
                      </a:r>
                    </a:p>
                  </a:txBody>
                  <a:tcPr anchor="ctr">
                    <a:solidFill>
                      <a:srgbClr val="0097D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Services: Identity Services Engine (ISE)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E3-CX-ISE-ESWP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Cisco Support Standard SW Support OP for ISE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0"/>
                      </a:pPr>
                      <a:r>
                        <a:t>55.00%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/>
                      </a:pPr>
                      <a:r>
                        <a:t>$55,552.46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Investment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Annual subscription-based Enterprise Agreement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005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Total Contract Value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005073"/>
                </a:solidFill>
              </a:defRPr>
            </a:pPr>
            <a:r>
              <a:t>$895,852.73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009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Software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0097D9"/>
                </a:solidFill>
              </a:defRPr>
            </a:pPr>
            <a:r>
              <a:t>$840,300.27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3716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0097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Services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0097D9"/>
                </a:solidFill>
              </a:defRPr>
            </a:pPr>
            <a:r>
              <a:t>$55,552.46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5859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Total List Price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58595B"/>
                </a:solidFill>
              </a:defRPr>
            </a:pPr>
            <a:r>
              <a:t>$2,377,577.68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004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6BB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Total Discount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6BBF4A"/>
                </a:solidFill>
              </a:defRPr>
            </a:pPr>
            <a:r>
              <a:t>$1,391,799.17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3200400"/>
            <a:ext cx="3474720" cy="1463040"/>
          </a:xfrm>
          <a:prstGeom prst="roundRect">
            <a:avLst/>
          </a:prstGeom>
          <a:solidFill>
            <a:srgbClr val="F5F5F5"/>
          </a:solidFill>
          <a:ln>
            <a:solidFill>
              <a:srgbClr val="6BB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58595B"/>
                </a:solidFill>
              </a:defRPr>
            </a:pPr>
            <a:r>
              <a:t>One-Time Discount</a:t>
            </a:r>
          </a:p>
          <a:p>
            <a:pPr algn="ctr">
              <a:spcBef>
                <a:spcPts val="600"/>
              </a:spcBef>
              <a:defRPr sz="2200" b="1">
                <a:solidFill>
                  <a:srgbClr val="6BBF4A"/>
                </a:solidFill>
              </a:defRPr>
            </a:pPr>
            <a:r>
              <a:t>$89,925.78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05073"/>
                </a:solidFill>
              </a:defRPr>
            </a:pPr>
            <a:r>
              <a:t>Estimated Average Annual Investment: $217,388.92  (based on ~49.5 month term, annual billing)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Important Notice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CE5F3"/>
                </a:solidFill>
              </a:defRPr>
            </a:pPr>
            <a:r>
              <a:t>Cisco Enterprise Agreement — Proposal Export Summary (v1.0)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 b="1">
                <a:solidFill>
                  <a:srgbClr val="005073"/>
                </a:solidFill>
              </a:defRPr>
            </a:pPr>
            <a:r>
              <a:t>This presentation contains indicative pricing only as of the date generated.</a:t>
            </a:r>
          </a:p>
          <a:p>
            <a:pPr>
              <a:spcBef>
                <a:spcPts val="800"/>
              </a:spcBef>
              <a:defRPr sz="1400" b="1">
                <a:solidFill>
                  <a:srgbClr val="005073"/>
                </a:solidFill>
              </a:defRPr>
            </a:pPr>
            <a:r>
              <a:t>This is NOT an approved Cisco quote.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  <a:r>
              <a:t>Pricing is subject to change and final approval by Cisco.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005073"/>
                </a:solidFill>
              </a:defRPr>
            </a:pPr>
            <a:r>
              <a:t>Pre-EA assets are software licenses actively available in the customer's install base. They will be considered as consumed when the EA subscription is activated.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</a:p>
          <a:p>
            <a:pPr>
              <a:spcBef>
                <a:spcPts val="800"/>
              </a:spcBef>
              <a:defRPr sz="1100">
                <a:solidFill>
                  <a:srgbClr val="0097D9"/>
                </a:solidFill>
              </a:defRPr>
            </a:pPr>
            <a:r>
              <a:t>Proposal Link: https://apps.cisco.com/ea/project/proposal/6aa407697861bd4610eba3b4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  <a:r>
              <a:t>Generated: 15-Sep-2026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  <a:r>
              <a:t>Proposal ID: 9327623</a:t>
            </a:r>
          </a:p>
          <a:p>
            <a:pPr>
              <a:spcBef>
                <a:spcPts val="800"/>
              </a:spcBef>
              <a:defRPr sz="1200">
                <a:solidFill>
                  <a:srgbClr val="58595B"/>
                </a:solidFill>
              </a:defRPr>
            </a:pPr>
            <a:r>
              <a:t>Deal ID: 86069328 | Quote ID: 4802559147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58595B"/>
                </a:solidFill>
              </a:defRPr>
            </a:pPr>
            <a:r>
              <a:t>CISCO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