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CISCO SERVICES &amp; SOFTWARE BUYING PROGRAMS  ·  PIPELINE GENERATION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Tallgrass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00BCEB"/>
                </a:solidFill>
                <a:latin typeface="Calibri"/>
              </a:rPr>
              <a:t>IQ Onboarded Accounts &amp; RIS Assessment Propensity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219456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5E0EA"/>
                </a:solidFill>
                <a:latin typeface="Calibri"/>
              </a:rPr>
              <a:t>Convert live Cisco IQ telemetry into Routing &amp; Infrastructure Services (RIS) Professional Assessments — then into multi-million-dollar routing, switching, and cloud security modernization programs.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13632"/>
            <a:ext cx="18836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ADOPTING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187952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79476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3913632"/>
            <a:ext cx="18836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CORE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4187952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79476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3913632"/>
            <a:ext cx="18836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INSTALL 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4187952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$319M+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79476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3913632"/>
            <a:ext cx="18836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RIS ASSESSMENT TAM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4187952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$1.2–1.8M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79476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3913632"/>
            <a:ext cx="18836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PULL-THROUGH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4187952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$25M+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Account alignment: Robin Randolph  ·  Gerry Garwood  ·  Jeff Pavalone  ·  Paige Ball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CISCO CONFIDENTIAL  ·  Internal Sales Enablement  ·  Not for customer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HOW TO USE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Five moves from IQ telemetry to staged RIS SOWs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89611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91440" cy="89611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96012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C4A35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26464"/>
            <a:ext cx="9784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Why this motion, 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755648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IQ-onboarded accounts are the highest-propensity RIS Assessment buyers in Tallgrass.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11430000" cy="89611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91440" cy="89611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50592"/>
            <a:ext cx="96012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C4A35A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432304"/>
            <a:ext cx="9784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Propensity evaluation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761488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Four pillars: live telemetry, scale, LDOS exposure, and transformation in flight.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91840"/>
            <a:ext cx="11430000" cy="89611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91440" cy="89611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56432"/>
            <a:ext cx="96012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C4A35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38144"/>
            <a:ext cx="9784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Tier 1 and Tier 2 target accounts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767328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Ten core names, recommended plays, and architectural triggers by SAVM.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97680"/>
            <a:ext cx="11430000" cy="89611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91440" cy="89611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96012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C4A35A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443984"/>
            <a:ext cx="9784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Sales plays and discovery scripts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773168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Telemetry Unlock vs. Pre-Transformation Derisking — with executive language.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303520"/>
            <a:ext cx="11430000" cy="89611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91440" cy="89611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68112"/>
            <a:ext cx="96012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C4A35A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449824"/>
            <a:ext cx="9784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AE action plan and SOW staging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779008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Six-week path to $75k–$150k RIS assessments attached to FY27 buying programs.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PIPELINE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Tallgrass RIS Assessment opportunity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IQ-onboarded install base is already instrumented — the assessment is the consulting unlock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98448"/>
            <a:ext cx="2249424" cy="111556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298448"/>
            <a:ext cx="73152" cy="111556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89888"/>
            <a:ext cx="19751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TOTAL ADOPTING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09344"/>
            <a:ext cx="19751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11680"/>
            <a:ext cx="1975104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0BCEB"/>
                </a:solidFill>
                <a:latin typeface="Calibri"/>
              </a:rPr>
              <a:t>IQ / telemetry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298448"/>
            <a:ext cx="2249424" cy="111556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1298448"/>
            <a:ext cx="73152" cy="11155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389888"/>
            <a:ext cx="19751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CORE 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609344"/>
            <a:ext cx="19751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11680"/>
            <a:ext cx="1975104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0BCEB"/>
                </a:solidFill>
                <a:latin typeface="Calibri"/>
              </a:rPr>
              <a:t>Named Tier 1 &amp;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1298448"/>
            <a:ext cx="2249424" cy="111556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1298448"/>
            <a:ext cx="73152" cy="1115568"/>
          </a:xfrm>
          <a:prstGeom prst="rect">
            <a:avLst/>
          </a:prstGeom>
          <a:solidFill>
            <a:srgbClr val="2B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389888"/>
            <a:ext cx="19751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INSTALL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1609344"/>
            <a:ext cx="19751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$319M+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011680"/>
            <a:ext cx="1975104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0BCEB"/>
                </a:solidFill>
                <a:latin typeface="Calibri"/>
              </a:rPr>
              <a:t>Cisco estate, core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0064" y="1298448"/>
            <a:ext cx="2249424" cy="111556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1298448"/>
            <a:ext cx="73152" cy="11155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1389888"/>
            <a:ext cx="19751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DIRECT RIS TAM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1609344"/>
            <a:ext cx="19751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$1.2–1.8M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011680"/>
            <a:ext cx="1975104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0BCEB"/>
                </a:solidFill>
                <a:latin typeface="Calibri"/>
              </a:rPr>
              <a:t>Assessment SOW TAM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9216" y="1298448"/>
            <a:ext cx="2249424" cy="111556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9216" y="1298448"/>
            <a:ext cx="73152" cy="111556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1389888"/>
            <a:ext cx="19751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9BB0C3"/>
                </a:solidFill>
                <a:latin typeface="Calibri"/>
              </a:rPr>
              <a:t>DOWNSTREAM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1609344"/>
            <a:ext cx="19751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$25M+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011680"/>
            <a:ext cx="1975104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0BCEB"/>
                </a:solidFill>
                <a:latin typeface="Calibri"/>
              </a:rPr>
              <a:t>Routing &amp; security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2633472"/>
            <a:ext cx="5669280" cy="37033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788920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The unlock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182112"/>
            <a:ext cx="52578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Customers already onboarded to Catalyst Center, Intersight, CX Cloud, Splunk FSO, or ISE stream configuration, health, and software data automatically.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Cisco CX can run a high-impact architectural resilience and security audit with zero customer onboarding friction.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The RIS Professional Assessment turns telemetry into a board-ready 3-year modernization roadmap.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That roadmap is the on-ramp to multi-million-dollar routing, switching, and cloud security programs.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633472"/>
            <a:ext cx="5577840" cy="37033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788920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What to stage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446520" y="3182112"/>
          <a:ext cx="512064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2788920"/>
              </a:tblGrid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Assessment SOW range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$75k – $150k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Buying program attach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FY27 services programs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Primary motion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 Professional Assessment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Telemetry sources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 Center · Intersight · CX Cloud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Also in play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Splunk FSO · ISE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Pull-through thesis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Routing · switching · cloud security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First-wave AMs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Randolph · Garwood · Pavalone · Ball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325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BB0C3"/>
                          </a:solidFill>
                          <a:latin typeface="Calibri"/>
                        </a:rPr>
                        <a:t>First-wave names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UMB · Garmin · DFA · Lockton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STRATEGIC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IQ telemetry is the RIS Assessment unlock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Highest propensity sits with accounts already streaming automated configuration, health, and software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98448"/>
            <a:ext cx="2249424" cy="155448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2249424" cy="6400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463040"/>
            <a:ext cx="199339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Catalyst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993392"/>
            <a:ext cx="199339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Campus fabric, switching, and wireless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298448"/>
            <a:ext cx="2249424" cy="155448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298448"/>
            <a:ext cx="2249424" cy="6400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463040"/>
            <a:ext cx="199339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1993392"/>
            <a:ext cx="199339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Compute, DC fabric, and operations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298448"/>
            <a:ext cx="2249424" cy="155448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1298448"/>
            <a:ext cx="2249424" cy="6400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463040"/>
            <a:ext cx="199339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CX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993392"/>
            <a:ext cx="199339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Installed-base, LDOS, and contract telemetry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298448"/>
            <a:ext cx="2249424" cy="155448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1298448"/>
            <a:ext cx="2249424" cy="6400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1463040"/>
            <a:ext cx="199339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Splunk FSO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1993392"/>
            <a:ext cx="199339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Full-stack observability and Zero Trust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298448"/>
            <a:ext cx="2249424" cy="155448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56648" y="1298448"/>
            <a:ext cx="2249424" cy="6400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4664" y="1463040"/>
            <a:ext cx="199339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4664" y="1993392"/>
            <a:ext cx="199339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Identity, segmentation, and policy posture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3063240"/>
            <a:ext cx="3767328" cy="32461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3218688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Zero onboarding friction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913632"/>
            <a:ext cx="33832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Because the customer is already sending IQ data, CX engineers can benchmark routing resilience, failover latency, and configuration drift without a lengthy manual discovery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063240"/>
            <a:ext cx="3767328" cy="32461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3218688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Board-ready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3913632"/>
            <a:ext cx="33832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The deliverable is an executive findings deck: routing convergence, latent failover risk, LDOS exposure, and a prioritized 3-year modernization roadmap.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063240"/>
            <a:ext cx="3767328" cy="32461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3218688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Assessment is the wedge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3913632"/>
            <a:ext cx="33832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A $75k–$150k RIS Professional Assessment is the consulting SOW. Downstream pull-through is the $25M+ routing, switching, and cloud security program it qualifies.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Propensity evaluation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Use these four pillars to prioritize outreach — every Tier 1 name scores on at least three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98448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91440" cy="2331720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49FD9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99616"/>
            <a:ext cx="4251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Active IQ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12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Qualify:  Catalyst Center, Intersight, Cloud Monitoring, or Splunk connected.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Why it converts:  Pre-existing telemetry removes data-collection friction so CX can benchmark network resilience immediately.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98448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98448"/>
            <a:ext cx="91440" cy="2331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6304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A35A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499616"/>
            <a:ext cx="4251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Scale &amp;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5212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Qualify:  Cisco footprint &gt; $15M; distributed campus / multi-site WAN.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70048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Why it converts:  Large distributed environments carry architectural debt, route-table fragmentation, and configuration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13048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13048"/>
            <a:ext cx="91440" cy="2331720"/>
          </a:xfrm>
          <a:prstGeom prst="rect">
            <a:avLst/>
          </a:prstGeom>
          <a:solidFill>
            <a:srgbClr val="2B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BBAD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14216"/>
            <a:ext cx="4251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Imminent LDOS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5212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Qualify:  Hardware / software reaching Last Date of Support in FY26–FY28.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84648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Why it converts:  Creates a C-level compelling event to fund an architectural risk review before hardware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813048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13048"/>
            <a:ext cx="91440" cy="2331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97764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DDC97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014216"/>
            <a:ext cx="4251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Strategic Transformation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526280"/>
            <a:ext cx="5212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Qualify:  Active SD-WAN, data center builds, or Zero Trust initiatives.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184648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Why it converts:  RIS is the independent architectural validation SOW that de-risks multi-cloud transit and campus segmentation.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TIER 1  ·  HIGH PROPENSITY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Ranked target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Six named accounts  ·  $216M+ combined Cisco footprint  ·  IQ already live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1280160"/>
          <a:ext cx="11658600" cy="5074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1965960"/>
                <a:gridCol w="1417320"/>
                <a:gridCol w="2606040"/>
                <a:gridCol w="3063240"/>
              </a:tblGrid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 / SAVM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VERTICAL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FOOTPRINT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IQ MATURITY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RECOMMENDED PLAY</a:t>
                      </a:r>
                    </a:p>
                  </a:txBody>
                  <a:tcPr marL="70000" marR="70000" marT="50000" marB="50000" anchor="ctr">
                    <a:solidFill>
                      <a:srgbClr val="049FD9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UMB Financial Corp
SAVM 203733540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Banking / Finance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$30.6M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Adopt / Optimize
Splunk FSO &amp; Zero Trust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4A35A"/>
                          </a:solidFill>
                          <a:latin typeface="Calibri"/>
                        </a:rPr>
                        <a:t>Financial Hybrid Routing Audit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Garmin International
SAVM 203707065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Global Tech / Mfg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$66.4M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Onboarded
Cat Center, Intersight, ACI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4A35A"/>
                          </a:solidFill>
                          <a:latin typeface="Calibri"/>
                        </a:rPr>
                        <a:t>DC Fabric &amp; Core Routing Assessment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Dairy Farmers of America
SAVM 203860067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Mfg &amp; Distribution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$41.7M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Active Onboard
Campus &amp; Auto-WAN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4A35A"/>
                          </a:solidFill>
                          <a:latin typeface="Calibri"/>
                        </a:rPr>
                        <a:t>Industrial Edge &amp; WAN Survivability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Children's Mercy Hospital
SAVM 203771956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Pediatric Healthcare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$33.4M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Connected
Cat Center &amp; Intersight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4A35A"/>
                          </a:solidFill>
                          <a:latin typeface="Calibri"/>
                        </a:rPr>
                        <a:t>Clinical Resilience &amp; Risk Assessment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Lockton Companies
SAVM 203707061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Insurance / Global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$25.7M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Cloud Monitoring
+$14.8M WxC renewal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4A35A"/>
                          </a:solidFill>
                          <a:latin typeface="Calibri"/>
                        </a:rPr>
                        <a:t>Global Collaboration Routing Assessment</a:t>
                      </a:r>
                    </a:p>
                  </a:txBody>
                  <a:tcPr marL="70000" marR="70000" marT="50000" marB="50000" anchor="ctr">
                    <a:solidFill>
                      <a:srgbClr val="17283C"/>
                    </a:solidFill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Truman Medical (UHKC)
SAVM 203771980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Academic Healthcare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$18.5M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Use / Adopt
Campus Analytics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4A35A"/>
                          </a:solidFill>
                          <a:latin typeface="Calibri"/>
                        </a:rPr>
                        <a:t>Healthcare Campus Network Audit</a:t>
                      </a:r>
                    </a:p>
                  </a:txBody>
                  <a:tcPr marL="70000" marR="70000" marT="50000" marB="50000" anchor="ctr">
                    <a:solidFill>
                      <a:srgbClr val="1C304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TIER 1  ·  FIRST-WAVE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UMB  ·  Garmin  ·  Dairy Farmers of America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Primary Sales Play A — Telemetry Unlock Architectural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80160"/>
            <a:ext cx="3803904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280160"/>
            <a:ext cx="3803904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63040"/>
            <a:ext cx="3438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UMB Financial Corp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92224"/>
            <a:ext cx="343814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203733540  ·  Banking  ·  $30.6M  ·  Tier 1 Adopt/Optimize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59152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ARCHITECTURAL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78608"/>
            <a:ext cx="3438144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Financial regulatory compliance, multi-site routing resilience, and a $1.5M Catalyst Center opportunity already in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86200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RECOMMENDED SALES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14800"/>
            <a:ext cx="34381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Financial Hybrid Routing Audit — core banking transit resilience, SD-WAN failover latency, and Zero Trust segmentation integrity.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1280160"/>
            <a:ext cx="3803904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1280160"/>
            <a:ext cx="3803904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1463040"/>
            <a:ext cx="3438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Garmin International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1792224"/>
            <a:ext cx="343814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203707065  ·  Global Tech / Mfg  ·  $66.4M  ·  Cat Center, Intersight, ACI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59152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ARCHITECTURAL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578608"/>
            <a:ext cx="3438144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$2.5M new data center build in pipeline. Global manufacturing supply-chain dependency on campus and DC fabric routing.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886200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RECOMMENDED SALES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114800"/>
            <a:ext cx="34381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DC Fabric &amp; Core Routing Assessment — anchor RIS to de-risk the new DC build and optimize high-throughput campus fabric routing.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280160"/>
            <a:ext cx="3803904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1280160"/>
            <a:ext cx="3803904" cy="73152"/>
          </a:xfrm>
          <a:prstGeom prst="rect">
            <a:avLst/>
          </a:prstGeom>
          <a:solidFill>
            <a:srgbClr val="2B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463040"/>
            <a:ext cx="3438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Dairy Farmers of America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1792224"/>
            <a:ext cx="343814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203860067  ·  Mfg &amp; Distribution  ·  $41.7M  ·  Campus &amp; Auto-WAN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359152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ARCHITECTURAL 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578608"/>
            <a:ext cx="3438144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Distributed plant-network routing, $2M Zscaler takeout in flight, and multi-cloud interconnect dependencies.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886200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RECOMMENDED SALES 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114800"/>
            <a:ext cx="34381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Industrial Edge &amp; WAN Survivability — plant-to-cloud routing redundancy, SD-WAN path optimization, and IoT edge resilience.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TIER 1  ·  CLINICAL, INSURANCE, ACADEMIC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Children's Mercy  ·  Lockton  ·  Truman Medical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Mix of Play A (Children's Mercy) and Play B (Lockton, Truman) — Pre-Transformation Derisking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80160"/>
            <a:ext cx="3803904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280160"/>
            <a:ext cx="3803904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63040"/>
            <a:ext cx="3438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Children's Mercy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92224"/>
            <a:ext cx="343814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203771956  ·  Pediatric Healthcare  ·  $33.4M  ·  Cat Center &amp; Intersight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59152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ARCHITECTURAL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78608"/>
            <a:ext cx="3438144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Zero-downtime clinical mandate, medical-device IoT segmentation, and a $1.09M upcoming LDOS hardware runway.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86200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RECOMMENDED SALES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14800"/>
            <a:ext cx="34381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Clinical Resilience &amp; Risk Assessment — unpatched vulnerability mapping, medical-device isolation routing, and hospital core resilience.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1280160"/>
            <a:ext cx="3803904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1280160"/>
            <a:ext cx="3803904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1463040"/>
            <a:ext cx="3438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Lockton Companies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1792224"/>
            <a:ext cx="343814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203707061  ·  Insurance / Global  ·  $25.7M  ·  Cloud Monitoring + $14.8M WxC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59152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ARCHITECTURAL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578608"/>
            <a:ext cx="3438144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Rapid global office expansion, multi-carrier SIP/WAN routing consolidation, and C1 modernization ahead of Webex Calling renewal.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886200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RECOMMENDED SALES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114800"/>
            <a:ext cx="34381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Global Collaboration Routing Assessment — WAN reliability, QoS posture for Webex Calling, and branch survivability.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280160"/>
            <a:ext cx="3803904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1280160"/>
            <a:ext cx="3803904" cy="73152"/>
          </a:xfrm>
          <a:prstGeom prst="rect">
            <a:avLst/>
          </a:prstGeom>
          <a:solidFill>
            <a:srgbClr val="2B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463040"/>
            <a:ext cx="3438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Truman Medical (UHKC)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1792224"/>
            <a:ext cx="343814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203771980  ·  Academic Healthcare  ·  $18.5M  ·  Campus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359152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ARCHITECTURAL 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578608"/>
            <a:ext cx="3438144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$1.35M Webex Calling DI 5-year renewal, high-density hospital campus switching refresh, and EHR telemetry dependencies.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886200"/>
            <a:ext cx="34381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A35A"/>
                </a:solidFill>
                <a:latin typeface="Calibri"/>
              </a:rPr>
              <a:t>RECOMMENDED SALES 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114800"/>
            <a:ext cx="34381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Healthcare Campus Network Audit — core campus switching resilience, wireless telemetry health, and EHR traffic routing redundancy.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TIER 2  ·  STRATEGIC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Next-wave IQ-connected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Live telemetry plus a transformation trigger — stage after first-wave SOWs are in 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5742432" cy="235915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91440" cy="2359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408176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HNTB Holdings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426464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A35A"/>
                </a:solidFill>
                <a:latin typeface="Calibri"/>
              </a:rPr>
              <a:t>Play B  ·  Derisking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556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203707063  ·  Engineering  ·  $21.6M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103120"/>
            <a:ext cx="5257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Catalyst Center telemetry live. $1.2M Webex refresh in Commit.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578608"/>
            <a:ext cx="5257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Hybrid Studio WAN Audit — multi-gigabit design-studio bandwidth, CAD/BIM cloud sync, and hybrid routing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280160"/>
            <a:ext cx="5742432" cy="235915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280160"/>
            <a:ext cx="91440" cy="2359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1408176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Black &amp; Veatch Inc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1426464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A35A"/>
                </a:solidFill>
                <a:latin typeface="Calibri"/>
              </a:rPr>
              <a:t>Play B  ·  SASE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7556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203771954  ·  Critical Infrastructure  ·  $19.4M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103120"/>
            <a:ext cx="5257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Intersight compute live. $1.14M Secure Access opportunity.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78608"/>
            <a:ext cx="5257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Critical Infrastructure SASE Readiness — secure remote engineering transit and critical-infrastructure routing mesh.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822192"/>
            <a:ext cx="5742432" cy="235915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22192"/>
            <a:ext cx="91440" cy="2359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950208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WellSky Corporation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968496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A35A"/>
                </a:solidFill>
                <a:latin typeface="Calibri"/>
              </a:rPr>
              <a:t>Play A  · 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297680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203839175  ·  Healthcare SaaS  ·  $16.2M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645152"/>
            <a:ext cx="5257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21 adoption use cases active (Meraki, Compute, Zero Trust).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120640"/>
            <a:ext cx="5257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Multi-Region SaaS Edge Resilience — cloud edge ingress/egress routing throughput, DC firewall resilience, and SD-WAN links.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3822192"/>
            <a:ext cx="5742432" cy="2359152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3822192"/>
            <a:ext cx="91440" cy="2359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3950208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Salina Regional 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3968496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A35A"/>
                </a:solidFill>
                <a:latin typeface="Calibri"/>
              </a:rPr>
              <a:t>Play A  ·  LDOS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297680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SAVM 203793443  ·  Regional Health  ·  $20.6M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4" y="4645152"/>
            <a:ext cx="5257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BB0C3"/>
                </a:solidFill>
                <a:latin typeface="Calibri"/>
              </a:rPr>
              <a:t>Campus switching and compute telemetry connected.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5120640"/>
            <a:ext cx="5257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0EA"/>
                </a:solidFill>
                <a:latin typeface="Calibri"/>
              </a:rPr>
              <a:t>Regional Clinic WAN Survivability — remote clinic router failover, telemedicine QoS, and LDOS replacement roadmaps.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SALES PLAY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"Telemetry Unlock" architectural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Primary motion for Garmin, Dairy Farmers of America, and UMB Financial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2578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5E0EA"/>
                </a:solidFill>
                <a:latin typeface="Calibri"/>
              </a:rPr>
              <a:t>Position the RIS Professional Assessment as the natural consulting deliverable that turns raw IQ telemetry into a prioritized C-level executive roadmap. Do not sell a data-collection exercise — the data is already flowing.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5257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Talk tracks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Your IQ integration is already complete — we start from live telemetry, not questionnaires.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Deliverable is a board-ready findings deck, not a raw dump of configs.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Output: routing convergence, latent failover risk, and a 3-year modernization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91440" cy="50292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44752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Executive discovery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19"/>
            <a:ext cx="5029200" cy="3246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"Because your environment is already integrated with Cisco IQ telemetry, our Advanced Services architecture team can conduct a comprehensive Routing &amp; Infrastructure Resilience Assessment without lengthy manual network audits. We will deliver a board-ready findings deck analyzing routing convergence, latent failover risks, and a prioritized 3-year modernization roadmap."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30352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Ask next: Which of routing convergence, DC fabric, or WAN failover is the board most exposed to in the next 18 months?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SALES PLAY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Pre-Transformation Derisking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Primary motion for Lockton, Truman Medical, and HNTB — attach RIS before the migration, not after the outage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2578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5E0EA"/>
                </a:solidFill>
                <a:latin typeface="Calibri"/>
              </a:rPr>
              <a:t>Position RIS as mandatory risk mitigation before executing major cloud calling, SD-WAN, or data center migrations. The assessment is how the CIO buys day-one SLA confidence.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5257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Attach it in front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Lockton — $14.8M Webex Calling renewal and global WAN consolidation.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Truman — $1.35M WxC DI 5-year renewal and campus switching refresh.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D5E0EA"/>
                </a:solidFill>
                <a:latin typeface="Calibri"/>
              </a:rPr>
              <a:t>•  HNTB — $1.2M Webex refresh in Commit plus hybrid studio WAN 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91440" cy="5029200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44752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Executive discovery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19"/>
            <a:ext cx="50292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"Prior to rolling out our planned cloud and collaboration migration, our CX Advisory Practice conducts a high-fidelity Infrastructure Assessment to validate path diversity, QoS queueing integrity, and core route table stability, guaranteeing day-one performance SLAs."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02920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Ask next: If calling, CAD sync, or EHR traffic failed over incorrectly on day one, which executive owns that outage — and have we proven path diversity yet?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ACCOUNT EXECUTIVE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Six weeks from alignment to staged SOWs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Target: $75k–$150k RIS Assessment SOWs in CCW, attached to FY27 service buying programs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3767328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767328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463040"/>
            <a:ext cx="3383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PHASE 1  ·  Weeks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78308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AM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286000"/>
            <a:ext cx="33832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Align with Robin Randolph, Gerry Garwood, Jeff Pavalone, and Paige Ball. Review target IQ profiles and confirm architectural priorities for UMB, Garmin, DFA, and Lockton.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4526280"/>
            <a:ext cx="33832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Deliverable: confirmed first-wave account list, named CIO / VP Infrastructure, and agreed play (A or B) per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80160"/>
            <a:ext cx="3767328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3767328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463040"/>
            <a:ext cx="3383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PHASE 2  ·  Weeks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78308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Executive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286000"/>
            <a:ext cx="33832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Outreach to customer CIO / VP of Infrastructure. Run 30-minute CX Advisory briefings using pre-populated IQ telemetry snapshots — no blank-page discovery.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526280"/>
            <a:ext cx="33832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Deliverable: 30-minute CX Advisory Briefing complete; verbal sponsor for a RIS Assessment SOW.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280160"/>
            <a:ext cx="3767328" cy="5029200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1280160"/>
            <a:ext cx="3767328" cy="73152"/>
          </a:xfrm>
          <a:prstGeom prst="rect">
            <a:avLst/>
          </a:prstGeom>
          <a:solidFill>
            <a:srgbClr val="2B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1463040"/>
            <a:ext cx="3383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BBBAD"/>
                </a:solidFill>
                <a:latin typeface="Calibri"/>
              </a:rPr>
              <a:t>PHASE 3  ·  Weeks 5–6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178308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Scope and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286000"/>
            <a:ext cx="33832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Scope Professional Services SOWs and stage them in CCW against FY27 service buying programs. Keep the assessment as the wedge; attach pull-through separately.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526280"/>
            <a:ext cx="33832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Deliverable: $75k–$150k RIS Assessment SOW staged per first-wave account.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6070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COMMERCIAL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From assessment SOW to pull-through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The RIS Professional Assessment is the wedge. Do not stop at the $75k–$150k SOW.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98448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91056"/>
            <a:ext cx="713232" cy="713232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91056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463040"/>
            <a:ext cx="5669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Stage the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65376"/>
            <a:ext cx="5669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BB0C3"/>
                </a:solidFill>
                <a:latin typeface="Calibri"/>
              </a:rPr>
              <a:t>RIS Professional Assessment SOW in CCW, attached to FY27 service buying programs.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554480"/>
            <a:ext cx="40233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>
                <a:solidFill>
                  <a:srgbClr val="C4A35A"/>
                </a:solidFill>
                <a:latin typeface="Calibri"/>
              </a:rPr>
              <a:t>$75k–$150k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15768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008376"/>
            <a:ext cx="713232" cy="713232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08376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80360"/>
            <a:ext cx="5669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Cover the core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82696"/>
            <a:ext cx="5669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BB0C3"/>
                </a:solidFill>
                <a:latin typeface="Calibri"/>
              </a:rPr>
              <a:t>Direct RIS Assessment TAM if the ten Tier 1 and Tier 2 names convert.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71800"/>
            <a:ext cx="40233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>
                <a:solidFill>
                  <a:srgbClr val="C4A35A"/>
                </a:solidFill>
                <a:latin typeface="Calibri"/>
              </a:rPr>
              <a:t>$1.2M–$1.8M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33088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4425696"/>
            <a:ext cx="713232" cy="713232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425696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97680"/>
            <a:ext cx="5669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Fund the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700016"/>
            <a:ext cx="5669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BB0C3"/>
                </a:solidFill>
                <a:latin typeface="Calibri"/>
              </a:rPr>
              <a:t>Downstream routing, switching, and cloud security modernization pull-through.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89120"/>
            <a:ext cx="40233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>
                <a:solidFill>
                  <a:srgbClr val="C4A35A"/>
                </a:solidFill>
                <a:latin typeface="Calibri"/>
              </a:rPr>
              <a:t>$25M+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5E0EA"/>
                </a:solidFill>
                <a:latin typeface="Calibri"/>
              </a:rPr>
              <a:t>Anchor every briefing to a named architectural trigger already in motion — Garmin DC build, DFA Zscaler takeout, Lockton WxC renewal, Children's Mercy LDOS — so the assessment is risk insurance on a program the customer has already funded.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38544"/>
            <a:ext cx="12191695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647688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BB0C3"/>
                </a:solidFill>
                <a:latin typeface="Calibri"/>
              </a:rPr>
              <a:t>CISCO CONFIDENTIAL  ·  Internal Sales Enablement  ·  Tallgrass Region  ·  Services &amp; Software Buying Programs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647688"/>
            <a:ext cx="2377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C4A35A"/>
                </a:solidFill>
                <a:latin typeface="Calibri"/>
              </a:rPr>
              <a:t>RIS Pipeline  ·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NEXT 10 WORKING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Open the first four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0BCEB"/>
                </a:solidFill>
                <a:latin typeface="Calibri"/>
              </a:rPr>
              <a:t>UMB  ·  Garmin  ·  Dairy Farmers of America  ·  Lockton  — then expand to Children's Mercy and Truman.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72800" cy="93268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91440" cy="93268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20116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66544"/>
            <a:ext cx="82753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D5E0EA"/>
                </a:solidFill>
                <a:latin typeface="Calibri"/>
              </a:rPr>
              <a:t>Sit with Randolph, Garwood, Pavalone, and Ball. Confirm IQ snapshots exist and pick Play A or Play B per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72800" cy="93268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91440" cy="93268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81528"/>
            <a:ext cx="20116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18104"/>
            <a:ext cx="82753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D5E0EA"/>
                </a:solidFill>
                <a:latin typeface="Calibri"/>
              </a:rPr>
              <a:t>Book 30-minute CX Advisory briefings with CIO / VP Infrastructure. Lead with the script; leave with a SOW sponsor.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0972800" cy="932688"/>
          </a:xfrm>
          <a:prstGeom prst="roundRect">
            <a:avLst>
              <a:gd name="adj" fmla="val 8000"/>
            </a:avLst>
          </a:prstGeom>
          <a:solidFill>
            <a:srgbClr val="17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91440" cy="93268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20116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Weeks 3–6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169664"/>
            <a:ext cx="82753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D5E0EA"/>
                </a:solidFill>
                <a:latin typeface="Calibri"/>
              </a:rPr>
              <a:t>Scope $75k–$150k RIS Assessment SOWs and stage them in CCW against FY27 service buying programs.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telemetry is already on. The assessment is how Tallgrass turns 233 IQ-onboarded accounts into a $25M+ routing and infrastructure modernization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0C3"/>
                </a:solidFill>
                <a:latin typeface="Calibri"/>
              </a:rPr>
              <a:t>CISCO CONFIDENTIAL  ·  Internal Sales Enablement  ·  Services &amp; Software Buying Programs  ·  Circuit AI Super Agent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